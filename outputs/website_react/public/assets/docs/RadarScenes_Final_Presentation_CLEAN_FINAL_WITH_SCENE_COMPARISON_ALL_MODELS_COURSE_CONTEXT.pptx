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85" r:id="rId6"/>
    <p:sldId id="261" r:id="rId7"/>
    <p:sldId id="262" r:id="rId8"/>
    <p:sldId id="260" r:id="rId9"/>
    <p:sldId id="264" r:id="rId10"/>
    <p:sldId id="286" r:id="rId11"/>
    <p:sldId id="283" r:id="rId12"/>
    <p:sldId id="266" r:id="rId13"/>
    <p:sldId id="267" r:id="rId14"/>
    <p:sldId id="289" r:id="rId15"/>
    <p:sldId id="28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91" r:id="rId25"/>
    <p:sldId id="280" r:id="rId26"/>
    <p:sldId id="276" r:id="rId27"/>
    <p:sldId id="277" r:id="rId28"/>
    <p:sldId id="290" r:id="rId29"/>
    <p:sldId id="278" r:id="rId30"/>
    <p:sldId id="279" r:id="rId31"/>
    <p:sldId id="284" r:id="rId32"/>
    <p:sldId id="263" r:id="rId33"/>
    <p:sldId id="281" r:id="rId34"/>
    <p:sldId id="265" r:id="rId35"/>
    <p:sldId id="288" r:id="rId36"/>
    <p:sldId id="282" r:id="rId37"/>
    <p:sldId id="292" r:id="rId38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74104-750B-431D-8712-A8B869E180B0}" type="datetimeFigureOut">
              <a:rPr lang="fr-FR" smtClean="0"/>
              <a:t>13/05/2026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6BB55-E326-4820-8C8A-0B7F775B0C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1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6BB55-E326-4820-8C8A-0B7F775B0C3E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62363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5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686800" cy="18620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rPr dirty="0"/>
              <a:t>Radar Perception Analysis | Sequence 102 prototype</a:t>
            </a:r>
            <a:r>
              <a:rPr lang="fr-FR" dirty="0"/>
              <a:t> | Gaïa Mezaïb Boti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502920"/>
            <a:ext cx="4983480" cy="283464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25498270676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643859"/>
            <a:ext cx="4983480" cy="22418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3054096"/>
            <a:ext cx="48006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Camera frame from Sequence 102/images/22549827067641.jpg.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566160"/>
            <a:ext cx="49834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ir_range_sc_vs_vr_compensated_by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681" y="3566160"/>
            <a:ext cx="2756916" cy="1837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20840" y="5431536"/>
            <a:ext cx="48006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Two-parameter plot: range vs compensated velocity, colored by final label. Source: outputs/parameter_relationships/plots/pair_range_sc_vs_vr_compensated_by_label.png.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731520"/>
            <a:ext cx="557784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0C2438"/>
                </a:solidFill>
                <a:latin typeface="Aptos"/>
              </a:defRPr>
            </a:pPr>
            <a:r>
              <a:rPr dirty="0"/>
              <a:t>Radar Perception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389888"/>
            <a:ext cx="5440680" cy="5303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1">
                <a:solidFill>
                  <a:srgbClr val="00796B"/>
                </a:solidFill>
                <a:latin typeface="Aptos"/>
              </a:defRPr>
            </a:pPr>
            <a:r>
              <a:rPr dirty="0"/>
              <a:t>Semantic recognition in sparse automotive radar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084831"/>
            <a:ext cx="5212080" cy="9144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700" b="0">
                <a:solidFill>
                  <a:srgbClr val="141F2B"/>
                </a:solidFill>
                <a:latin typeface="Aptos"/>
              </a:defRPr>
            </a:pPr>
            <a:r>
              <a:rPr dirty="0"/>
              <a:t>A working Sequence 102 prototype that links radar signal parameters to object labels, with model evaluation and parameter-by-parameter interpretation.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83280"/>
            <a:ext cx="1600200" cy="109728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520440"/>
            <a:ext cx="127101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67328"/>
            <a:ext cx="1271016" cy="54784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sz="1600" dirty="0"/>
              <a:t>Sequence 102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187952"/>
            <a:ext cx="1271016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000" b="0">
                <a:solidFill>
                  <a:srgbClr val="5A6976"/>
                </a:solidFill>
                <a:latin typeface="Aptos"/>
              </a:defRPr>
            </a:pPr>
            <a:r>
              <a:rPr dirty="0"/>
              <a:t>local prototype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87168" y="3383280"/>
            <a:ext cx="1600200" cy="109728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51760" y="3520440"/>
            <a:ext cx="127101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767328"/>
            <a:ext cx="1271016" cy="54784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sz="1600" dirty="0"/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187952"/>
            <a:ext cx="1271016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000" b="0">
                <a:solidFill>
                  <a:srgbClr val="5A6976"/>
                </a:solidFill>
                <a:latin typeface="Aptos"/>
              </a:defRPr>
            </a:pPr>
            <a:r>
              <a:rPr dirty="0"/>
              <a:t>100 trees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383280"/>
            <a:ext cx="1600200" cy="109728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59" y="3520440"/>
            <a:ext cx="127101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3767328"/>
            <a:ext cx="127101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98%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187952"/>
            <a:ext cx="1271016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000" b="0">
                <a:solidFill>
                  <a:srgbClr val="5A6976"/>
                </a:solidFill>
                <a:latin typeface="Aptos"/>
              </a:defRPr>
            </a:pPr>
            <a:r>
              <a:t>balanced 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074920"/>
            <a:ext cx="5257800" cy="79406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92400E"/>
                </a:solidFill>
                <a:latin typeface="Aptos"/>
              </a:defRPr>
            </a:pPr>
            <a:r>
              <a:rPr lang="fr-FR" dirty="0"/>
              <a:t>Current </a:t>
            </a:r>
            <a:r>
              <a:rPr lang="fr-FR" dirty="0" err="1"/>
              <a:t>Status</a:t>
            </a:r>
            <a:r>
              <a:rPr dirty="0"/>
              <a:t>: completed prototype and analysis pipeline; full 50-sequence evaluation remains future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972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00796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15568"/>
            <a:ext cx="950976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0C2438"/>
                </a:solidFill>
                <a:latin typeface="Aptos"/>
              </a:defRPr>
            </a:pPr>
            <a:r>
              <a:t>Presentation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74519"/>
            <a:ext cx="8961120" cy="5486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5A6976"/>
                </a:solidFill>
                <a:latin typeface="Aptos"/>
              </a:defRPr>
            </a:pPr>
            <a:r>
              <a:rPr dirty="0"/>
              <a:t>Context → Problem → Data → Model → Relationships → Results → 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2670048"/>
            <a:ext cx="7955279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524762-2C8E-3FD3-889F-82EA287D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46" y="3780711"/>
            <a:ext cx="11219424" cy="1655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Context: why radar perception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4754880" cy="283464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225498110664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26798"/>
            <a:ext cx="4754880" cy="21390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785616"/>
            <a:ext cx="45720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Camera frame from Sequence 102/images/22549811066427.jpg.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251960"/>
            <a:ext cx="475488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225498270676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87" y="4251960"/>
            <a:ext cx="2256224" cy="10149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294376"/>
            <a:ext cx="45720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Camera frame from Sequence 102/images/22549827067641.jpg.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234440"/>
            <a:ext cx="5715000" cy="196596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9592" y="1353312"/>
            <a:ext cx="5385816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Radar strengths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1828800"/>
            <a:ext cx="5276088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Works in poor lighting and difficult weather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Measures radial velocity directly with Doppler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Useful for ADAS and autonomous driving perception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520440"/>
            <a:ext cx="5715000" cy="205740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9592" y="3639312"/>
            <a:ext cx="5385816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Radar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4114800"/>
            <a:ext cx="5276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Sparse point detections rather than dense images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No visual texture or object outline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Semantic labels must be inferred from physical signal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Problem definition: the end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1060704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C2438"/>
                </a:solidFill>
                <a:latin typeface="Aptos"/>
              </a:defRPr>
            </a:pPr>
            <a:r>
              <a:t>Predict the semantic radar label from physical radar measurements.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10424160" cy="91440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039112"/>
            <a:ext cx="100949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96B"/>
                </a:solidFill>
                <a:latin typeface="Aptos"/>
              </a:defRPr>
            </a:pPr>
            <a:r>
              <a:t>Core model question</a:t>
            </a:r>
          </a:p>
          <a:p>
            <a:pPr>
              <a:spcBef>
                <a:spcPts val="400"/>
              </a:spcBef>
              <a:defRPr sz="1600">
                <a:solidFill>
                  <a:srgbClr val="141F2B"/>
                </a:solidFill>
                <a:latin typeface="Aptos"/>
              </a:defRPr>
            </a:pPr>
            <a:r>
              <a:t>How do velocity, compensated velocity, RCS, range, azimuth, and x/y position relate to the final label_id?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2412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300" b="1">
                <a:solidFill>
                  <a:srgbClr val="0C2438"/>
                </a:solidFill>
                <a:latin typeface="Aptos"/>
              </a:defRPr>
            </a:pPr>
            <a:r>
              <a:t>label_id = f(vr, vr_compensated, rcs, range_sc, azimuth_sc, x_cc, y_cc)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4937760" cy="2066544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370832"/>
            <a:ext cx="460857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rPr lang="fr-FR" dirty="0"/>
              <a:t>Why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matters</a:t>
            </a:r>
            <a:r>
              <a:rPr lang="fr-FR" dirty="0"/>
              <a:t>?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78992" y="4846320"/>
            <a:ext cx="4498848" cy="133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 sz="1450">
                <a:solidFill>
                  <a:srgbClr val="141F2B"/>
                </a:solidFill>
                <a:latin typeface="Aptos"/>
              </a:defRPr>
            </a:pPr>
            <a:r>
              <a:rPr lang="en-US" sz="1450" dirty="0"/>
              <a:t>Radar works in low-visibility conditions 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 sz="1450">
                <a:solidFill>
                  <a:srgbClr val="141F2B"/>
                </a:solidFill>
                <a:latin typeface="Aptos"/>
              </a:defRPr>
            </a:pPr>
            <a:r>
              <a:rPr lang="en-US" sz="1450" dirty="0"/>
              <a:t>Semantic perception helps autonomous vehicles better understand their surroundings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 sz="1450">
                <a:solidFill>
                  <a:srgbClr val="141F2B"/>
                </a:solidFill>
                <a:latin typeface="Aptos"/>
              </a:defRPr>
            </a:pPr>
            <a:r>
              <a:rPr lang="en-US" sz="1450" dirty="0"/>
              <a:t>Understanding feature behavior supports interpretable AI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309360" y="4251959"/>
            <a:ext cx="4937760" cy="1715293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4370832"/>
            <a:ext cx="460857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2400E"/>
                </a:solidFill>
                <a:latin typeface="Aptos"/>
              </a:defRPr>
            </a:pPr>
            <a:r>
              <a:rPr lang="fr-FR" sz="1700" b="1" dirty="0"/>
              <a:t>Current </a:t>
            </a:r>
            <a:r>
              <a:rPr lang="fr-FR" sz="1700" b="1" dirty="0" err="1"/>
              <a:t>Development</a:t>
            </a:r>
            <a:r>
              <a:rPr lang="fr-FR" sz="1700" b="1" dirty="0"/>
              <a:t> Stage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473952" y="4854127"/>
            <a:ext cx="4498848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 sz="1450">
                <a:solidFill>
                  <a:srgbClr val="141F2B"/>
                </a:solidFill>
                <a:latin typeface="Aptos"/>
              </a:defRPr>
            </a:pPr>
            <a:r>
              <a:rPr lang="en-US" sz="1450" dirty="0"/>
              <a:t>Interactive radar feature-space visualization 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 sz="1450">
                <a:solidFill>
                  <a:srgbClr val="141F2B"/>
                </a:solidFill>
                <a:latin typeface="Aptos"/>
              </a:defRPr>
            </a:pPr>
            <a:r>
              <a:rPr lang="en-US" sz="1450" dirty="0"/>
              <a:t>Prototype tested on Sequence 102 </a:t>
            </a:r>
          </a:p>
          <a:p>
            <a:pPr marL="285750" indent="-285750">
              <a:spcBef>
                <a:spcPts val="500"/>
              </a:spcBef>
              <a:buFont typeface="Arial" panose="020B0604020202020204" pitchFamily="34" charset="0"/>
              <a:buChar char="•"/>
              <a:defRPr sz="1450">
                <a:solidFill>
                  <a:srgbClr val="141F2B"/>
                </a:solidFill>
                <a:latin typeface="Aptos"/>
              </a:defRPr>
            </a:pPr>
            <a:r>
              <a:rPr lang="en-US" sz="1450" dirty="0"/>
              <a:t>Preparing multi-sequence evaluation and classification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C94FA97-5376-6437-E0E8-A1B2BD9C07F0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5DBA9E9-73A7-D4D8-313A-D9D05C46E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5883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Data: what is available locally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2377440" cy="105156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71600"/>
            <a:ext cx="204825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RADAR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18488"/>
            <a:ext cx="204825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1,009,955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34440"/>
            <a:ext cx="2377440" cy="105156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1371600"/>
            <a:ext cx="204825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ODOMETRY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618488"/>
            <a:ext cx="204825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11,711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234440"/>
            <a:ext cx="2377440" cy="105156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53912" y="1371600"/>
            <a:ext cx="204825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618488"/>
            <a:ext cx="204825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234440"/>
            <a:ext cx="2377440" cy="105156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05672" y="1371600"/>
            <a:ext cx="204825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H5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618488"/>
            <a:ext cx="204825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039112"/>
            <a:ext cx="2048256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000" b="0">
                <a:solidFill>
                  <a:srgbClr val="5A6976"/>
                </a:solidFill>
                <a:latin typeface="Aptos"/>
              </a:defRPr>
            </a:pPr>
            <a:r>
              <a:t>radar_data, odometry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97480"/>
            <a:ext cx="5257800" cy="288036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object_type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2697480"/>
            <a:ext cx="5138928" cy="2569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5294376"/>
            <a:ext cx="50749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Class distribution in Sequence 102. Source: Sequence 102/outputs/plots/object_type_counts.png, generated by Sequence 102/sequence102_radar_scene_report.py.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697480"/>
            <a:ext cx="4983480" cy="288036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dynamic_points_across_sce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849602"/>
            <a:ext cx="4983480" cy="226521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0" y="5294376"/>
            <a:ext cx="48006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Dynamic radar detections over scene order. Source: Sequence 102/outputs/plots/dynamic_points_across_scenes.png.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400" b="1">
                <a:solidFill>
                  <a:srgbClr val="0C2438"/>
                </a:solidFill>
                <a:latin typeface="Aptos"/>
              </a:defRPr>
            </a:pPr>
            <a:r>
              <a:t>Validation: Sequence 102 H5 timestamps match scenes.json, so radar points can be linked to sequence metadata.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Data issue: severe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234440"/>
          <a:ext cx="49377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label_id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Passenger 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28,604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Truck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5,399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Other dynamic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Static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975,829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1051560"/>
            <a:ext cx="5212080" cy="297180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bject_type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78992"/>
            <a:ext cx="521208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3739896"/>
            <a:ext cx="5029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Class distribution in Sequence 102. Source: Sequence 102/outputs/plots/object_type_counts.png, generated by Sequence 102/sequence102_radar_scene_report.py.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1033272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462272"/>
            <a:ext cx="1000353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2400E"/>
                </a:solidFill>
                <a:latin typeface="Aptos"/>
              </a:defRPr>
            </a:pPr>
            <a:r>
              <a:t>Why this matters</a:t>
            </a:r>
          </a:p>
          <a:p>
            <a:pPr>
              <a:spcBef>
                <a:spcPts val="400"/>
              </a:spcBef>
              <a:defRPr sz="1600">
                <a:solidFill>
                  <a:srgbClr val="141F2B"/>
                </a:solidFill>
                <a:latin typeface="Aptos"/>
              </a:defRPr>
            </a:pPr>
            <a:r>
              <a:t>Without balancing, a model could predict static environment too often and still look accurate. The prototype keeps all dynamic points and samples the static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48628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rPr lang="fr-FR" dirty="0"/>
              <a:t>Current state vs. </a:t>
            </a:r>
            <a:r>
              <a:rPr lang="fr-FR" dirty="0" err="1"/>
              <a:t>Looking</a:t>
            </a:r>
            <a:r>
              <a:rPr lang="fr-FR" dirty="0"/>
              <a:t> </a:t>
            </a:r>
            <a:r>
              <a:rPr lang="fr-FR" dirty="0" err="1"/>
              <a:t>forward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33856"/>
            <a:ext cx="5593080" cy="5340096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53312"/>
            <a:ext cx="49743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rPr lang="fr-FR" dirty="0" err="1"/>
              <a:t>Explored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41832" y="1828800"/>
            <a:ext cx="4864608" cy="889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rPr dirty="0"/>
              <a:t>Generated evaluation metrics and plots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rPr dirty="0"/>
              <a:t>Analyzed each parameter relationship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rPr dirty="0"/>
              <a:t>Prepared HTML doc</a:t>
            </a:r>
            <a:r>
              <a:rPr lang="fr-FR" dirty="0" err="1"/>
              <a:t>umentation</a:t>
            </a:r>
            <a:r>
              <a:rPr lang="fr-FR" dirty="0"/>
              <a:t> </a:t>
            </a:r>
            <a:r>
              <a:rPr dirty="0"/>
              <a:t>a</a:t>
            </a:r>
            <a:r>
              <a:rPr lang="fr-FR" dirty="0" err="1"/>
              <a:t>nd</a:t>
            </a:r>
            <a:r>
              <a:rPr lang="fr-FR" dirty="0"/>
              <a:t> folders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638800" cy="530352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7104" y="1353311"/>
            <a:ext cx="51856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2400E"/>
                </a:solidFill>
                <a:latin typeface="Aptos"/>
              </a:defRPr>
            </a:pPr>
            <a:r>
              <a:rPr dirty="0"/>
              <a:t>Not done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86460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Other 49 sequences not downloaded locally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No all-sequence training yet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No held-out-sequence validation yet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98% is prototype performance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A50CC00-035E-ABF0-C8D6-0706C2A2E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254"/>
          <a:stretch>
            <a:fillRect/>
          </a:stretch>
        </p:blipFill>
        <p:spPr>
          <a:xfrm>
            <a:off x="850392" y="2986813"/>
            <a:ext cx="4660392" cy="312137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90ADDD9-7AF8-9366-396B-BDF04BB05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03"/>
          <a:stretch>
            <a:fillRect/>
          </a:stretch>
        </p:blipFill>
        <p:spPr>
          <a:xfrm>
            <a:off x="6443472" y="2986813"/>
            <a:ext cx="5083789" cy="31941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Mathematical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10789920" cy="105156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261872"/>
            <a:ext cx="104607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0796B"/>
                </a:solidFill>
                <a:latin typeface="Aptos"/>
              </a:defRPr>
            </a:pPr>
            <a:r>
              <a:t>Input vector</a:t>
            </a:r>
          </a:p>
        </p:txBody>
      </p:sp>
      <p:pic>
        <p:nvPicPr>
          <p:cNvPr id="10" name="Picture 9" descr="eq_input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888" y="1600200"/>
            <a:ext cx="4002024" cy="4754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2514600"/>
            <a:ext cx="10789920" cy="96012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633472"/>
            <a:ext cx="1046073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369A1"/>
                </a:solidFill>
                <a:latin typeface="Aptos"/>
              </a:defRPr>
            </a:pPr>
            <a:r>
              <a:t>Target</a:t>
            </a:r>
          </a:p>
        </p:txBody>
      </p:sp>
      <p:pic>
        <p:nvPicPr>
          <p:cNvPr id="13" name="Picture 12" descr="eq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2907792"/>
            <a:ext cx="3848099" cy="457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5800" y="3794760"/>
            <a:ext cx="10789920" cy="114300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913632"/>
            <a:ext cx="1046073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Classifier</a:t>
            </a:r>
          </a:p>
        </p:txBody>
      </p:sp>
      <p:pic>
        <p:nvPicPr>
          <p:cNvPr id="16" name="Picture 15" descr="eq_class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078" y="4279392"/>
            <a:ext cx="4771644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5394960"/>
            <a:ext cx="1042416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600" b="1">
                <a:solidFill>
                  <a:srgbClr val="0C2438"/>
                </a:solidFill>
                <a:latin typeface="Aptos"/>
              </a:defRPr>
            </a:pPr>
            <a:r>
              <a:t>In words: the model receives one radar point and predicts the object class with the highest estimated probability.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A21575F7-F6BA-C183-08C6-2708359E3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2973"/>
            <a:ext cx="11899900" cy="793326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6356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603F734-ED23-9C2A-E1E5-E5FF5B74E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383" y="643467"/>
            <a:ext cx="5153234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0490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Model results: Sequence 102 test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076" y="1371600"/>
            <a:ext cx="5943600" cy="4664413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65" y="1591056"/>
            <a:ext cx="5254752" cy="3941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556" y="5601381"/>
            <a:ext cx="512064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rPr dirty="0"/>
              <a:t>Confusion matrix for the Random Forest test split. Source: outputs/</a:t>
            </a:r>
            <a:r>
              <a:rPr dirty="0" err="1"/>
              <a:t>model_evaluation</a:t>
            </a:r>
            <a:r>
              <a:rPr dirty="0"/>
              <a:t>/confusion_matrix.png, generated by scratch_model_evaluation.py.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1645920" cy="96012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371600"/>
            <a:ext cx="13167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18488"/>
            <a:ext cx="13167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0.98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1645920" cy="96012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371600"/>
            <a:ext cx="13167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618488"/>
            <a:ext cx="13167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0.95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1234440"/>
            <a:ext cx="1325880" cy="96012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60152" y="1371600"/>
            <a:ext cx="996695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WEIGHTED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0152" y="1618488"/>
            <a:ext cx="996695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0.98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560320"/>
            <a:ext cx="5166360" cy="260604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2679191"/>
            <a:ext cx="4837176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154679"/>
            <a:ext cx="472744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Strong Sequence 102 prototype performance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Truck class is harder than passenger car/static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Result is not yet full-dataset proof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rPr dirty="0"/>
              <a:t>What the model relies on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rPr dirty="0"/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33857"/>
            <a:ext cx="5760718" cy="4440092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7612"/>
            <a:ext cx="5486400" cy="32918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111496"/>
            <a:ext cx="53035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Random Forest feature importance. Source: outputs/model_evaluation/feature_importance.png, generated by scratch_model_evaluation.py.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188720"/>
            <a:ext cx="4892040" cy="416052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1" y="1307592"/>
            <a:ext cx="4562855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Main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783080"/>
            <a:ext cx="4453127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vr_compensated is the strongest feature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Position variables help describe scene geometry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Raw velocity still contributes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RCS and range support the decision rather than solving it alone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5B32206-AE91-2458-6494-0B78B3D9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199"/>
          <a:stretch>
            <a:fillRect/>
          </a:stretch>
        </p:blipFill>
        <p:spPr>
          <a:xfrm>
            <a:off x="16190" y="370390"/>
            <a:ext cx="11918949" cy="379649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097B5DF-FF24-768E-F32F-76E9F50B38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259" b="3389"/>
          <a:stretch>
            <a:fillRect/>
          </a:stretch>
        </p:blipFill>
        <p:spPr>
          <a:xfrm>
            <a:off x="0" y="4749616"/>
            <a:ext cx="12175810" cy="13009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7733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DB9D5C1-D76A-778E-052B-A6296B8B527C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922ABE-1823-ED33-6553-EB95125FC360}"/>
              </a:ext>
            </a:extLst>
          </p:cNvPr>
          <p:cNvSpPr txBox="1"/>
          <p:nvPr/>
        </p:nvSpPr>
        <p:spPr>
          <a:xfrm>
            <a:off x="3048000" y="3000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1ED0F8-29EF-6CD5-1FA1-510857F09E75}"/>
              </a:ext>
            </a:extLst>
          </p:cNvPr>
          <p:cNvSpPr txBox="1"/>
          <p:nvPr/>
        </p:nvSpPr>
        <p:spPr>
          <a:xfrm>
            <a:off x="3047189" y="301087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85BA72E-8C83-5111-9D86-DFB0C1030B2E}"/>
              </a:ext>
            </a:extLst>
          </p:cNvPr>
          <p:cNvSpPr txBox="1"/>
          <p:nvPr/>
        </p:nvSpPr>
        <p:spPr>
          <a:xfrm>
            <a:off x="3047189" y="324433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D435A48-361F-F174-80F3-D5883C17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808" b="16339"/>
          <a:stretch>
            <a:fillRect/>
          </a:stretch>
        </p:blipFill>
        <p:spPr>
          <a:xfrm>
            <a:off x="0" y="516969"/>
            <a:ext cx="11962909" cy="4294098"/>
          </a:xfrm>
          <a:prstGeom prst="rect">
            <a:avLst/>
          </a:prstGeom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0545C0E1-80A0-9F2D-F5FE-08E7EFE0951A}"/>
              </a:ext>
            </a:extLst>
          </p:cNvPr>
          <p:cNvSpPr txBox="1"/>
          <p:nvPr/>
        </p:nvSpPr>
        <p:spPr>
          <a:xfrm>
            <a:off x="566928" y="169578"/>
            <a:ext cx="10972800" cy="48628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rPr lang="en-US" sz="2800" b="1" dirty="0"/>
              <a:t>Model Architecture and Mechanism</a:t>
            </a:r>
            <a:endParaRPr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59E9DD1-71D8-404B-B9AD-0F5F99DCFCAC}"/>
              </a:ext>
            </a:extLst>
          </p:cNvPr>
          <p:cNvSpPr txBox="1"/>
          <p:nvPr/>
        </p:nvSpPr>
        <p:spPr>
          <a:xfrm>
            <a:off x="181833" y="4861709"/>
            <a:ext cx="117429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Random Forest</a:t>
            </a:r>
            <a:r>
              <a:rPr lang="en-US" dirty="0"/>
              <a:t> is an ensemble machine learning method that combines many decision trees to improve prediction accuracy and robustness.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decision tree</a:t>
            </a:r>
            <a:r>
              <a:rPr lang="en-US" dirty="0"/>
              <a:t> learns a set of feature-based rules from radar measurements to classify object types.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uses </a:t>
            </a:r>
            <a:r>
              <a:rPr lang="en-US" b="1" dirty="0"/>
              <a:t>bootstrapping</a:t>
            </a:r>
            <a:r>
              <a:rPr lang="en-US" dirty="0"/>
              <a:t> (random sampling with replacement) so every tree is trained on a slightly different subset of the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each split, the algorithm selects a </a:t>
            </a:r>
            <a:r>
              <a:rPr lang="en-US" b="1" dirty="0"/>
              <a:t>random subset of features</a:t>
            </a:r>
            <a:r>
              <a:rPr lang="en-US" dirty="0"/>
              <a:t> instead of using all variables, increasing diversity between trees and reducing overfitting.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18089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48628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rPr dirty="0"/>
              <a:t>Parameter relationships</a:t>
            </a:r>
            <a:r>
              <a:rPr lang="fr-FR" dirty="0"/>
              <a:t> (</a:t>
            </a:r>
            <a:r>
              <a:rPr lang="fr-FR" dirty="0" err="1"/>
              <a:t>individual</a:t>
            </a:r>
            <a:r>
              <a:rPr lang="fr-FR" dirty="0"/>
              <a:t>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8562" y="1069848"/>
            <a:ext cx="3934836" cy="2539114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ir_range_sc_vs_vr_compensated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" y="1170432"/>
            <a:ext cx="3031236" cy="2020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218688"/>
            <a:ext cx="338327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Two-parameter plot: range vs compensated velocity, colored by final label. Source: outputs/parameter_relationships/plots/pair_range_sc_vs_vr_compensated_by_label.png.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399" y="1078992"/>
            <a:ext cx="3657602" cy="2539114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ir_range_sc_vs_rcs_by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02" y="1170432"/>
            <a:ext cx="3031236" cy="2020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79" y="3218688"/>
            <a:ext cx="338327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Two-parameter plot: range vs RCS, colored by final label. Source: outputs/parameter_relationships/plots/pair_range_sc_vs_rcs_by_label.png.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1" y="1069848"/>
            <a:ext cx="3291839" cy="2639698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air_x_cc_vs_y_cc_by_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90244"/>
            <a:ext cx="2971800" cy="19811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66760" y="3218688"/>
            <a:ext cx="27889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Two-parameter plot: x/y spatial layout by final label. Source: outputs/parameter_relationships/plots/pair_x_cc_vs_y_cc_by_label.png.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23360"/>
            <a:ext cx="10287000" cy="123444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142232"/>
            <a:ext cx="995781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96B"/>
                </a:solidFill>
                <a:latin typeface="Aptos"/>
              </a:defRPr>
            </a:pPr>
            <a:r>
              <a:t>What these plots add</a:t>
            </a:r>
          </a:p>
          <a:p>
            <a:pPr>
              <a:spcBef>
                <a:spcPts val="400"/>
              </a:spcBef>
              <a:defRPr sz="1600">
                <a:solidFill>
                  <a:srgbClr val="141F2B"/>
                </a:solidFill>
                <a:latin typeface="Aptos"/>
              </a:defRPr>
            </a:pPr>
            <a:r>
              <a:t>They show each parameter with respect to the final label_id, then show paired relationships and model-effect curves. This explains the classifier instead of only reporting accuracy.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Velocity 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651" y="1051560"/>
            <a:ext cx="5726349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ctual_vr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349240" cy="3209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4562856"/>
            <a:ext cx="516635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rPr dirty="0"/>
              <a:t>Raw radial velocity distribution by final </a:t>
            </a:r>
            <a:r>
              <a:rPr dirty="0" err="1"/>
              <a:t>label_id</a:t>
            </a:r>
            <a:r>
              <a:rPr dirty="0"/>
              <a:t>. Source: outputs/</a:t>
            </a:r>
            <a:r>
              <a:rPr dirty="0" err="1"/>
              <a:t>parameter_relationships</a:t>
            </a:r>
            <a:r>
              <a:rPr dirty="0"/>
              <a:t>/plots/actual_vr_by_label.png.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307" y="1051560"/>
            <a:ext cx="5654041" cy="379476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ctual_vr_compensated_by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349240" cy="32095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8829" y="4554879"/>
            <a:ext cx="516635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rPr dirty="0"/>
              <a:t>Compensated velocity distribution by final </a:t>
            </a:r>
            <a:r>
              <a:rPr dirty="0" err="1"/>
              <a:t>label_id</a:t>
            </a:r>
            <a:r>
              <a:rPr dirty="0"/>
              <a:t>. Source: outputs/</a:t>
            </a:r>
            <a:r>
              <a:rPr dirty="0" err="1"/>
              <a:t>parameter_relationships</a:t>
            </a:r>
            <a:r>
              <a:rPr dirty="0"/>
              <a:t>/plots/actual_vr_compensated_by_label.png.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66360"/>
            <a:ext cx="10332720" cy="1124712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2"/>
            <a:ext cx="10003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Interpretation</a:t>
            </a:r>
          </a:p>
          <a:p>
            <a:pPr>
              <a:spcBef>
                <a:spcPts val="400"/>
              </a:spcBef>
              <a:defRPr sz="1500">
                <a:solidFill>
                  <a:srgbClr val="141F2B"/>
                </a:solidFill>
                <a:latin typeface="Aptos"/>
              </a:defRPr>
            </a:pPr>
            <a:r>
              <a:t>Raw velocity helps, but compensated velocity is clearer because static environment is centered close to zero after ego-motion correction.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RCS and range 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106" y="1051560"/>
            <a:ext cx="5554494" cy="3785616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ctual_rcs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349240" cy="3209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4562856"/>
            <a:ext cx="516635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Radar Cross Section distribution by final label_id. Source: outputs/parameter_relationships/plots/actual_rcs_by_label.png.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1051560"/>
            <a:ext cx="5740422" cy="379476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ctual_range_sc_by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349240" cy="32095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79" y="4562856"/>
            <a:ext cx="516635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rPr dirty="0"/>
              <a:t>Range distribution by final </a:t>
            </a:r>
            <a:r>
              <a:rPr dirty="0" err="1"/>
              <a:t>label_id</a:t>
            </a:r>
            <a:r>
              <a:rPr dirty="0"/>
              <a:t>. Source: outputs/</a:t>
            </a:r>
            <a:r>
              <a:rPr dirty="0" err="1"/>
              <a:t>parameter_relationships</a:t>
            </a:r>
            <a:r>
              <a:rPr dirty="0"/>
              <a:t>/plots/actual_range_sc_by_label.png.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66360"/>
            <a:ext cx="10332720" cy="1124712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2"/>
            <a:ext cx="10003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rPr dirty="0"/>
              <a:t>Interpretation</a:t>
            </a:r>
          </a:p>
          <a:p>
            <a:pPr>
              <a:spcBef>
                <a:spcPts val="400"/>
              </a:spcBef>
              <a:defRPr sz="1500">
                <a:solidFill>
                  <a:srgbClr val="141F2B"/>
                </a:solidFill>
                <a:latin typeface="Aptos"/>
              </a:defRPr>
            </a:pPr>
            <a:r>
              <a:rPr dirty="0"/>
              <a:t>RCS adds reflectivity and range adds distance context. Neither variable alone identifies the class; the model combines them with motion and position.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Direction and position 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361188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ctual_azimuth_sc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5607"/>
            <a:ext cx="3611880" cy="2167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014215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Azimuth angle distribution by final label_id. Source: outputs/parameter_relationships/plots/actual_azimuth_sc_by_label.png.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51560"/>
            <a:ext cx="361188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ctual_x_cc_by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35607"/>
            <a:ext cx="3611880" cy="2167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4014215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X-position distribution by final label_id. Source: outputs/parameter_relationships/plots/actual_x_cc_by_label.png.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51560"/>
            <a:ext cx="361188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ctual_y_cc_by_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35607"/>
            <a:ext cx="3611880" cy="2167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4014215"/>
            <a:ext cx="34290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Y-position distribution by final label_id. Source: outputs/parameter_relationships/plots/actual_y_cc_by_label.png.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00600"/>
            <a:ext cx="10378440" cy="113284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919472"/>
            <a:ext cx="1004925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rPr dirty="0"/>
              <a:t>Interpretation</a:t>
            </a:r>
          </a:p>
          <a:p>
            <a:pPr>
              <a:spcBef>
                <a:spcPts val="400"/>
              </a:spcBef>
              <a:defRPr sz="1500">
                <a:solidFill>
                  <a:srgbClr val="141F2B"/>
                </a:solidFill>
                <a:latin typeface="Aptos"/>
              </a:defRPr>
            </a:pPr>
            <a:r>
              <a:rPr dirty="0"/>
              <a:t>Azimuth and x/y coordinates locate detections in the vehicle frame. They help the model, but must be validated across more sequences so the model does not overfit one scene layout.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Two-parameter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347472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ir_range_sc_vs_rcs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" y="1005840"/>
            <a:ext cx="3031236" cy="2020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054096"/>
            <a:ext cx="329183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Two-parameter plot: range vs RCS, colored by final label. Source: outputs/parameter_relationships/plots/pair_range_sc_vs_rcs_by_label.png.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005840"/>
            <a:ext cx="347472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ir_range_sc_vs_vr_compensated_by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574" y="1005840"/>
            <a:ext cx="3031236" cy="2020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62272" y="3054096"/>
            <a:ext cx="329183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Two-parameter plot: range vs compensated velocity, colored by final label. Source: outputs/parameter_relationships/plots/pair_range_sc_vs_vr_compensated_by_label.png.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05840"/>
            <a:ext cx="347472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air_rcs_vs_vr_compensated_by_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342" y="1005840"/>
            <a:ext cx="3031236" cy="20208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1040" y="3054096"/>
            <a:ext cx="329183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Two-parameter plot: RCS vs compensated velocity by final label. Source: outputs/parameter_relationships/plots/pair_rcs_vs_vr_compensated_by_label.png.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703320"/>
            <a:ext cx="3749039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air_x_cc_vs_y_cc_by_lab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0612" y="3703320"/>
            <a:ext cx="2551176" cy="17007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03120" y="5431536"/>
            <a:ext cx="356615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Two-parameter plot: x/y spatial layout by final label. Source: outputs/parameter_relationships/plots/pair_x_cc_vs_y_cc_by_label.png.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074920" cy="201168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822191"/>
            <a:ext cx="474573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Reading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297680"/>
            <a:ext cx="46360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Range + compensated velocity is especially informative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RCS + velocity combines reflectivity and motion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X/Y shows spatial layout learned by the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Model-effect plots: changing one 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51560"/>
            <a:ext cx="356616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odel_effect_vr_compens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" y="1051560"/>
            <a:ext cx="3215640" cy="1929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008376"/>
            <a:ext cx="338327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Model-effect curve: predicted class probability as compensated velocity changes. Source: parameter_relationship_plots.py.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51560"/>
            <a:ext cx="356616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del_effect_r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660" y="1051560"/>
            <a:ext cx="3215640" cy="19293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3008376"/>
            <a:ext cx="338327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Model-effect curve: predicted class probability as RCS changes. Source: parameter_relationship_plots.py.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51560"/>
            <a:ext cx="356616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odel_effect_range_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139" y="1051560"/>
            <a:ext cx="3215640" cy="19293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19" y="3008376"/>
            <a:ext cx="338327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Model-effect curve: predicted class probability as range changes. Source: parameter_relationship_plots.py.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703320"/>
            <a:ext cx="356616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odel_effect_y_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780" y="3703320"/>
            <a:ext cx="2910840" cy="17465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94560" y="5477256"/>
            <a:ext cx="3383279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Model-effect curve: predicted class probability as y-position changes. Source: parameter_relationship_plots.py.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5074920" cy="205740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3822191"/>
            <a:ext cx="4745736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Interpretation</a:t>
            </a:r>
          </a:p>
          <a:p>
            <a:pPr>
              <a:spcBef>
                <a:spcPts val="400"/>
              </a:spcBef>
              <a:defRPr sz="1500">
                <a:solidFill>
                  <a:srgbClr val="141F2B"/>
                </a:solidFill>
                <a:latin typeface="Aptos"/>
              </a:defRPr>
            </a:pPr>
            <a:r>
              <a:t>These are model explanations: one parameter changes while the others stay at median values, showing how predicted class probabilities move.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Synthesis: how variables connect to label_id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97280"/>
            <a:ext cx="5349240" cy="233172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216152"/>
            <a:ext cx="5020055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What each family contributes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691640"/>
            <a:ext cx="4910327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Velocity: motion signal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Compensated velocity: strongest dynamic/static separator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RCS: reflectivity signal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Range + azimuth: where detection is relative to sensor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X/Y position: scene geometry in vehicle coordinates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257800" cy="2084832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216152"/>
            <a:ext cx="4928616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Why the model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91640"/>
            <a:ext cx="481888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No single parameter is sufficient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Random Forest combines variables non-linearly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Feature importance and relationship plots agree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Interpretation is currently Sequence 102-specific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A2ACA90-DD66-3E09-40F6-229AE97EB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22" y="4001937"/>
            <a:ext cx="8110486" cy="20148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Deliverables created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97280"/>
            <a:ext cx="5349240" cy="233172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216152"/>
            <a:ext cx="5020055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Files to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691640"/>
            <a:ext cx="4910327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presentation_summary.html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outputs/parameter_relationships/parameter_relationship_interpretation.html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outputs/model_evaluation/confusion_matrix.png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outputs/model_evaluation/feature_importance.png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teacher_submission folder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257800" cy="233172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216152"/>
            <a:ext cx="4928616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Scripts to reproduce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91640"/>
            <a:ext cx="481888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python verify_project.py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python scratch_model_evaluation.py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python parameter_relationship_plots.py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python "Sequence 102\\sequence102_radar_scene_report.py"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13C46C1-D8A8-1F76-F41D-9807CFC6C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89" y="3866728"/>
            <a:ext cx="554355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91B0EA6-A6A8-25B0-DD18-CECAA0B9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35" b="15105"/>
          <a:stretch>
            <a:fillRect/>
          </a:stretch>
        </p:blipFill>
        <p:spPr>
          <a:xfrm>
            <a:off x="375168" y="1244510"/>
            <a:ext cx="11441663" cy="5046562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82251B7A-A5C1-92EC-850F-2097CA6411C3}"/>
              </a:ext>
            </a:extLst>
          </p:cNvPr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rPr dirty="0"/>
              <a:t>NEXT STEPS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8D12008-3D0C-502D-BE4D-2EF8DDB4CC7F}"/>
              </a:ext>
            </a:extLst>
          </p:cNvPr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rPr dirty="0"/>
              <a:t>Future work: scaling to 50 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92973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97280" cy="5786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00796B"/>
                </a:solidFill>
                <a:latin typeface="Aptos"/>
              </a:defRPr>
            </a:pPr>
            <a:r>
              <a:rPr lang="fr-FR" dirty="0"/>
              <a:t>25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828800" y="1115568"/>
            <a:ext cx="950976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0C2438"/>
                </a:solidFill>
                <a:latin typeface="Aptos"/>
              </a:defRPr>
            </a:pPr>
            <a:r>
              <a:t>Backup slides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825979"/>
            <a:ext cx="7955279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Limitations: what not to overclaim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43000"/>
            <a:ext cx="10561320" cy="868680"/>
          </a:xfrm>
          <a:prstGeom prst="roundRect">
            <a:avLst/>
          </a:prstGeom>
          <a:solidFill>
            <a:srgbClr val="FFF7ED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261872"/>
            <a:ext cx="10232136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2400E"/>
                </a:solidFill>
                <a:latin typeface="Aptos"/>
              </a:defRPr>
            </a:pPr>
            <a:r>
              <a:rPr lang="fr-FR" dirty="0"/>
              <a:t>For </a:t>
            </a:r>
            <a:r>
              <a:rPr lang="fr-FR" dirty="0" err="1"/>
              <a:t>now</a:t>
            </a:r>
            <a:r>
              <a:rPr lang="fr-FR" dirty="0"/>
              <a:t>:</a:t>
            </a:r>
          </a:p>
          <a:p>
            <a:pPr>
              <a:spcBef>
                <a:spcPts val="400"/>
              </a:spcBef>
              <a:defRPr sz="2000">
                <a:solidFill>
                  <a:srgbClr val="141F2B"/>
                </a:solidFill>
                <a:latin typeface="Aptos"/>
              </a:defRPr>
            </a:pPr>
            <a:r>
              <a:rPr dirty="0"/>
              <a:t>The full Kaggle 50-sequence model is </a:t>
            </a:r>
            <a:r>
              <a:rPr lang="fr-FR" dirty="0"/>
              <a:t>NOT </a:t>
            </a:r>
            <a:r>
              <a:rPr dirty="0"/>
              <a:t>finished.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23160"/>
            <a:ext cx="10561320" cy="1170442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542032"/>
            <a:ext cx="10232136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796B"/>
                </a:solidFill>
                <a:latin typeface="Aptos"/>
              </a:defRPr>
            </a:pPr>
            <a:r>
              <a:rPr lang="fr-FR" dirty="0"/>
              <a:t>First </a:t>
            </a:r>
            <a:r>
              <a:rPr lang="fr-FR" dirty="0" err="1"/>
              <a:t>steps</a:t>
            </a:r>
            <a:r>
              <a:rPr lang="fr-FR" dirty="0"/>
              <a:t>:</a:t>
            </a:r>
            <a:endParaRPr dirty="0"/>
          </a:p>
          <a:p>
            <a:pPr>
              <a:spcBef>
                <a:spcPts val="400"/>
              </a:spcBef>
              <a:defRPr sz="1900">
                <a:solidFill>
                  <a:srgbClr val="141F2B"/>
                </a:solidFill>
                <a:latin typeface="Aptos"/>
              </a:defRPr>
            </a:pPr>
            <a:r>
              <a:rPr dirty="0"/>
              <a:t>I completed and verified a Sequence 102 prototype and analysis pipeline, ready to scale to all sequences.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5074920" cy="178308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3822191"/>
            <a:ext cx="474573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2400E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297680"/>
            <a:ext cx="4636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Only one sequence is local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No held-out sequence test yet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Some classes have small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03320"/>
            <a:ext cx="5074920" cy="178308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3822191"/>
            <a:ext cx="474573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Scientific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297680"/>
            <a:ext cx="46360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Download all sequences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Train on many sequences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Test on unseen sequences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9688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Future work: scaling to 50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2331720" cy="1627632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2801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Download all 50 Kaggle sequences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143000"/>
            <a:ext cx="2331720" cy="1627632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9720" y="1316736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0" y="1527048"/>
            <a:ext cx="2167127" cy="116339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Loop through every radar_data.h5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143000"/>
            <a:ext cx="2331720" cy="1591056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1" y="12801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15270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Combine feature 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143000"/>
            <a:ext cx="2331720" cy="114300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62872" y="12801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15270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Split by sequence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71800"/>
            <a:ext cx="2331720" cy="1865376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1089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3558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Train on many sequences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39" y="2971800"/>
            <a:ext cx="2331720" cy="1865376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85031" y="31089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1" y="33558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Test on held-out sequences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2971800"/>
            <a:ext cx="2331720" cy="169164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1" y="31089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1" y="33558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Compare feature importance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1033272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700" b="1">
                <a:solidFill>
                  <a:srgbClr val="0C2438"/>
                </a:solidFill>
                <a:latin typeface="Aptos"/>
              </a:defRPr>
            </a:pPr>
            <a:r>
              <a:t>Key future question: do the relationships found in Sequence 102 generalize to the other 49 sequences?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2B60AF1-8367-AC5F-601D-F8EE1BEF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06915-5F66-F93E-3E49-55001E65D0AD}"/>
              </a:ext>
            </a:extLst>
          </p:cNvPr>
          <p:cNvSpPr/>
          <p:nvPr/>
        </p:nvSpPr>
        <p:spPr>
          <a:xfrm>
            <a:off x="213511" y="17454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6D4C8-9DDE-E1EF-D1D8-D376DA70865D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05C6B-881E-3C6A-7C42-3BDA95554D15}"/>
              </a:ext>
            </a:extLst>
          </p:cNvPr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rPr dirty="0"/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35CB0-60AF-9DD9-84BC-860937F91830}"/>
              </a:ext>
            </a:extLst>
          </p:cNvPr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rPr dirty="0"/>
              <a:t>Future work: scaling to 50 sequences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A33E99-9A38-FDCB-E907-CE0D361C8C04}"/>
              </a:ext>
            </a:extLst>
          </p:cNvPr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C3AF0-E9AF-602C-6122-C4B5BEE338F1}"/>
              </a:ext>
            </a:extLst>
          </p:cNvPr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90284A-668B-2602-FEB6-88A4C6A7D02F}"/>
              </a:ext>
            </a:extLst>
          </p:cNvPr>
          <p:cNvSpPr txBox="1"/>
          <p:nvPr/>
        </p:nvSpPr>
        <p:spPr>
          <a:xfrm>
            <a:off x="896112" y="1280160"/>
            <a:ext cx="2002536" cy="18620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rPr dirty="0"/>
              <a:t>SEP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447F4F-7790-909B-B09C-BA66ABCD95FC}"/>
              </a:ext>
            </a:extLst>
          </p:cNvPr>
          <p:cNvSpPr txBox="1"/>
          <p:nvPr/>
        </p:nvSpPr>
        <p:spPr>
          <a:xfrm>
            <a:off x="896112" y="15270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Download all 50 Kaggle sequences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C06605-68DB-BD7E-B01E-823445958C78}"/>
              </a:ext>
            </a:extLst>
          </p:cNvPr>
          <p:cNvSpPr/>
          <p:nvPr/>
        </p:nvSpPr>
        <p:spPr>
          <a:xfrm>
            <a:off x="3520439" y="1143000"/>
            <a:ext cx="2331720" cy="1627632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988A0-0F21-8D5F-DB77-9030ECF42984}"/>
              </a:ext>
            </a:extLst>
          </p:cNvPr>
          <p:cNvSpPr txBox="1"/>
          <p:nvPr/>
        </p:nvSpPr>
        <p:spPr>
          <a:xfrm>
            <a:off x="3709720" y="1316736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2C679-93B0-F6DD-FAAC-4E260830AEA4}"/>
              </a:ext>
            </a:extLst>
          </p:cNvPr>
          <p:cNvSpPr txBox="1"/>
          <p:nvPr/>
        </p:nvSpPr>
        <p:spPr>
          <a:xfrm>
            <a:off x="3685030" y="1527048"/>
            <a:ext cx="2167127" cy="116339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Loop through every radar_data.h5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DA0FD35-AC87-115F-E0A9-05E52D9583B9}"/>
              </a:ext>
            </a:extLst>
          </p:cNvPr>
          <p:cNvSpPr/>
          <p:nvPr/>
        </p:nvSpPr>
        <p:spPr>
          <a:xfrm>
            <a:off x="6309359" y="1143000"/>
            <a:ext cx="2331720" cy="1591056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63F8E0-AD89-BDA4-A862-3C4340F55A58}"/>
              </a:ext>
            </a:extLst>
          </p:cNvPr>
          <p:cNvSpPr txBox="1"/>
          <p:nvPr/>
        </p:nvSpPr>
        <p:spPr>
          <a:xfrm>
            <a:off x="6473951" y="12801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C7D284-855E-8398-52AE-164DB47F7815}"/>
              </a:ext>
            </a:extLst>
          </p:cNvPr>
          <p:cNvSpPr txBox="1"/>
          <p:nvPr/>
        </p:nvSpPr>
        <p:spPr>
          <a:xfrm>
            <a:off x="6473951" y="15270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Combine feature tables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46C4B1B-52C9-D27C-1FA9-BD63881D847E}"/>
              </a:ext>
            </a:extLst>
          </p:cNvPr>
          <p:cNvSpPr/>
          <p:nvPr/>
        </p:nvSpPr>
        <p:spPr>
          <a:xfrm>
            <a:off x="9098280" y="1143000"/>
            <a:ext cx="2331720" cy="114300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A5812-801F-41FB-C73D-7085D37E3DC3}"/>
              </a:ext>
            </a:extLst>
          </p:cNvPr>
          <p:cNvSpPr txBox="1"/>
          <p:nvPr/>
        </p:nvSpPr>
        <p:spPr>
          <a:xfrm>
            <a:off x="9262872" y="12801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044FB5-06CF-5819-9AF0-567989AD13F7}"/>
              </a:ext>
            </a:extLst>
          </p:cNvPr>
          <p:cNvSpPr txBox="1"/>
          <p:nvPr/>
        </p:nvSpPr>
        <p:spPr>
          <a:xfrm>
            <a:off x="9262872" y="15270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Split by sequence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C343214-1012-5435-3417-8BDCA4E84FFE}"/>
              </a:ext>
            </a:extLst>
          </p:cNvPr>
          <p:cNvSpPr/>
          <p:nvPr/>
        </p:nvSpPr>
        <p:spPr>
          <a:xfrm>
            <a:off x="731520" y="2971800"/>
            <a:ext cx="2331720" cy="1865376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51C5B7-F408-E67A-0C1D-F1725146102D}"/>
              </a:ext>
            </a:extLst>
          </p:cNvPr>
          <p:cNvSpPr txBox="1"/>
          <p:nvPr/>
        </p:nvSpPr>
        <p:spPr>
          <a:xfrm>
            <a:off x="896112" y="31089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DD6A1-F97B-29DC-6DA3-B930DFDEC508}"/>
              </a:ext>
            </a:extLst>
          </p:cNvPr>
          <p:cNvSpPr txBox="1"/>
          <p:nvPr/>
        </p:nvSpPr>
        <p:spPr>
          <a:xfrm>
            <a:off x="896112" y="33558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t>Train on many sequences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67A7101-408B-712F-5357-A5F35F5C6A15}"/>
              </a:ext>
            </a:extLst>
          </p:cNvPr>
          <p:cNvSpPr/>
          <p:nvPr/>
        </p:nvSpPr>
        <p:spPr>
          <a:xfrm>
            <a:off x="3520439" y="2971800"/>
            <a:ext cx="2331720" cy="1865376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DA4C1A-B8F7-126B-102A-2E219622E4E4}"/>
              </a:ext>
            </a:extLst>
          </p:cNvPr>
          <p:cNvSpPr txBox="1"/>
          <p:nvPr/>
        </p:nvSpPr>
        <p:spPr>
          <a:xfrm>
            <a:off x="3685031" y="31089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A418B0-FB54-4806-28BD-1C17A60C34F2}"/>
              </a:ext>
            </a:extLst>
          </p:cNvPr>
          <p:cNvSpPr txBox="1"/>
          <p:nvPr/>
        </p:nvSpPr>
        <p:spPr>
          <a:xfrm>
            <a:off x="3685031" y="33558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Test on held-out sequences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CE52C65-DEE2-CE44-4ED6-6F627B4827D9}"/>
              </a:ext>
            </a:extLst>
          </p:cNvPr>
          <p:cNvSpPr/>
          <p:nvPr/>
        </p:nvSpPr>
        <p:spPr>
          <a:xfrm>
            <a:off x="6309359" y="2971800"/>
            <a:ext cx="2331720" cy="169164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92C748-3216-65C0-DA2C-B76733E32E23}"/>
              </a:ext>
            </a:extLst>
          </p:cNvPr>
          <p:cNvSpPr txBox="1"/>
          <p:nvPr/>
        </p:nvSpPr>
        <p:spPr>
          <a:xfrm>
            <a:off x="6473951" y="3108960"/>
            <a:ext cx="2002536" cy="21945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1">
                <a:solidFill>
                  <a:srgbClr val="5A6976"/>
                </a:solidFill>
                <a:latin typeface="Aptos"/>
              </a:defRPr>
            </a:pPr>
            <a:r>
              <a:t>STEP 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2535EE-E270-52E1-4820-F51A10FC1A89}"/>
              </a:ext>
            </a:extLst>
          </p:cNvPr>
          <p:cNvSpPr txBox="1"/>
          <p:nvPr/>
        </p:nvSpPr>
        <p:spPr>
          <a:xfrm>
            <a:off x="6473951" y="3355848"/>
            <a:ext cx="2002536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400" b="1">
                <a:solidFill>
                  <a:srgbClr val="00796B"/>
                </a:solidFill>
                <a:latin typeface="Aptos"/>
              </a:defRPr>
            </a:pPr>
            <a:r>
              <a:rPr dirty="0"/>
              <a:t>Compare feature importance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68A929-5CFC-DBB7-5E12-C867B0AD4358}"/>
              </a:ext>
            </a:extLst>
          </p:cNvPr>
          <p:cNvSpPr txBox="1"/>
          <p:nvPr/>
        </p:nvSpPr>
        <p:spPr>
          <a:xfrm>
            <a:off x="822960" y="5257800"/>
            <a:ext cx="1033272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700" b="1">
                <a:solidFill>
                  <a:srgbClr val="0C2438"/>
                </a:solidFill>
                <a:latin typeface="Aptos"/>
              </a:defRPr>
            </a:pPr>
            <a:r>
              <a:t>Key future question: do the relationships found in Sequence 102 generalize to the other 49 sequences?</a:t>
            </a:r>
          </a:p>
        </p:txBody>
      </p:sp>
    </p:spTree>
    <p:extLst>
      <p:ext uri="{BB962C8B-B14F-4D97-AF65-F5344CB8AC3E}">
        <p14:creationId xmlns:p14="http://schemas.microsoft.com/office/powerpoint/2010/main" val="4092787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Prepared answers for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97280"/>
            <a:ext cx="5349240" cy="452628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216152"/>
            <a:ext cx="5020055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Likely technical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691640"/>
            <a:ext cx="4910327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Why Random Forest? Tabular, interpretable, strong baseline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Why balancing? Static environment dominates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Why compensated velocity? Removes ego-motion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Why not final? Missing 49 sequences locally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97280"/>
            <a:ext cx="5257800" cy="452628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216152"/>
            <a:ext cx="4928616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Likely project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91640"/>
            <a:ext cx="481888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What is done? Prototype + plots + docs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What proves it works? Metrics + reproducible scripts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What explains it? Parameter relationship report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What next? 50-sequence validation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56132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2700" b="1">
                <a:solidFill>
                  <a:srgbClr val="0C2438"/>
                </a:solidFill>
                <a:latin typeface="Aptos"/>
              </a:defRPr>
            </a:pPr>
            <a:r>
              <a:t>Completed: a working, evaluated, and explained radar classification prototype.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423160"/>
            <a:ext cx="9921240" cy="114300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07592" y="2542032"/>
            <a:ext cx="95920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96B"/>
                </a:solidFill>
                <a:latin typeface="Aptos"/>
              </a:defRPr>
            </a:pPr>
            <a:r>
              <a:t>Main result</a:t>
            </a:r>
          </a:p>
          <a:p>
            <a:pPr>
              <a:spcBef>
                <a:spcPts val="400"/>
              </a:spcBef>
              <a:defRPr sz="1800">
                <a:solidFill>
                  <a:srgbClr val="141F2B"/>
                </a:solidFill>
                <a:latin typeface="Aptos"/>
              </a:defRPr>
            </a:pPr>
            <a:r>
              <a:t>Random Forest predicts label_id from radar signal and position features with 98% accuracy on the balanced Sequence 102 test split.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977639"/>
            <a:ext cx="9921240" cy="114300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07592" y="4096511"/>
            <a:ext cx="959205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369A1"/>
                </a:solidFill>
                <a:latin typeface="Aptos"/>
              </a:defRPr>
            </a:pPr>
            <a:r>
              <a:t>Main interpretation</a:t>
            </a:r>
          </a:p>
          <a:p>
            <a:pPr>
              <a:spcBef>
                <a:spcPts val="400"/>
              </a:spcBef>
              <a:defRPr sz="1700">
                <a:solidFill>
                  <a:srgbClr val="141F2B"/>
                </a:solidFill>
                <a:latin typeface="Aptos"/>
              </a:defRPr>
            </a:pPr>
            <a:r>
              <a:t>Compensated velocity is the strongest separator; RCS, range, azimuth, and position add supporting physical and spatial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1014984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700" b="1">
                <a:solidFill>
                  <a:srgbClr val="92400E"/>
                </a:solidFill>
                <a:latin typeface="Aptos"/>
              </a:defRPr>
            </a:pPr>
            <a:r>
              <a:t>Best final wording: validated Sequence 102 prototype, ready to scale to the full Kaggle dataset.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8D2B55-0D75-0239-344C-2FE42FBDF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B45145-23A5-02A9-4615-B43A4DEDDD7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D1FAE4-E26A-6EEF-DCD3-2225565CF24A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435A1-84C8-30E9-D5C5-0EF406C0DC47}"/>
              </a:ext>
            </a:extLst>
          </p:cNvPr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C252F-2927-A551-F570-0676C431B364}"/>
              </a:ext>
            </a:extLst>
          </p:cNvPr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31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13B0A-52ED-5908-9367-4746075BC6B8}"/>
              </a:ext>
            </a:extLst>
          </p:cNvPr>
          <p:cNvSpPr txBox="1"/>
          <p:nvPr/>
        </p:nvSpPr>
        <p:spPr>
          <a:xfrm>
            <a:off x="685800" y="1143000"/>
            <a:ext cx="10972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00796B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FE629-A388-DB68-339D-B52C2AC65AE0}"/>
              </a:ext>
            </a:extLst>
          </p:cNvPr>
          <p:cNvSpPr txBox="1"/>
          <p:nvPr/>
        </p:nvSpPr>
        <p:spPr>
          <a:xfrm>
            <a:off x="1828800" y="1115568"/>
            <a:ext cx="950976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3400" b="1">
                <a:solidFill>
                  <a:srgbClr val="0C2438"/>
                </a:solidFill>
                <a:latin typeface="Aptos"/>
              </a:defRPr>
            </a:pPr>
            <a:r>
              <a:rPr dirty="0"/>
              <a:t>Backup slides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B7513-A061-F2C3-A9E9-88269DFEEC58}"/>
              </a:ext>
            </a:extLst>
          </p:cNvPr>
          <p:cNvSpPr txBox="1"/>
          <p:nvPr/>
        </p:nvSpPr>
        <p:spPr>
          <a:xfrm>
            <a:off x="1874519" y="1874519"/>
            <a:ext cx="8961120" cy="5486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800" b="0">
                <a:solidFill>
                  <a:srgbClr val="5A6976"/>
                </a:solidFill>
                <a:latin typeface="Aptos"/>
              </a:defRPr>
            </a:pPr>
            <a:r>
              <a:rPr dirty="0"/>
              <a:t>Use these only if the question session goes deeper.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1BB405-F89E-1950-2ADD-D04F4F02524B}"/>
              </a:ext>
            </a:extLst>
          </p:cNvPr>
          <p:cNvSpPr/>
          <p:nvPr/>
        </p:nvSpPr>
        <p:spPr>
          <a:xfrm>
            <a:off x="1874519" y="2670048"/>
            <a:ext cx="7955279" cy="7315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2986A26-AC9C-0283-0422-51052FC06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52475"/>
            <a:ext cx="1063942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50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Radar features used by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143000"/>
          <a:ext cx="57150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Role in classification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raw radial motion toward/away from sensor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vr_compensated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motion after ego-vehicle correction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rcs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reflection strength / radar cross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range_sc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distance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azimuth_sc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bearing angle / direction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x_cc, y_cc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rPr dirty="0"/>
                        <a:t>position in vehicle coordinate 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1143000"/>
            <a:ext cx="457200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peed_vs_range_by_objec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542" y="1143000"/>
            <a:ext cx="2482596" cy="16550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12279" y="2825496"/>
            <a:ext cx="43891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Compensated velocity vs range by object type. Source: Sequence 102/outputs/plots/speed_vs_range_by_object_type.png.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474720"/>
            <a:ext cx="457200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rcs_vs_range_by_object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542" y="3474720"/>
            <a:ext cx="2482596" cy="16550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2279" y="5157216"/>
            <a:ext cx="43891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RCS vs range by object type. Source: Sequence 102/outputs/plots/rcs_vs_range_by_object_type.png.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5DBFD03-2894-9218-18DF-C5427A81040B}"/>
              </a:ext>
            </a:extLst>
          </p:cNvPr>
          <p:cNvSpPr txBox="1"/>
          <p:nvPr/>
        </p:nvSpPr>
        <p:spPr>
          <a:xfrm>
            <a:off x="3027680" y="3269734"/>
            <a:ext cx="6136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Backup: class-level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143000"/>
          <a:ext cx="5577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C2438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E7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Passenger 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Truck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Other dynamic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Static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F2B"/>
                          </a:solidFill>
                          <a:latin typeface="Aptos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1143000"/>
            <a:ext cx="4480560" cy="246888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85431" y="1261872"/>
            <a:ext cx="4151376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737360"/>
            <a:ext cx="40416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Truck is the hardest common class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Static environment performs best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Label 10 needs more 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502920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3977639"/>
            <a:ext cx="1719072" cy="12893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5294376"/>
            <a:ext cx="48463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690" b="0">
                <a:solidFill>
                  <a:srgbClr val="5A6976"/>
                </a:solidFill>
                <a:latin typeface="Aptos"/>
              </a:defRPr>
            </a:pPr>
            <a:r>
              <a:t>Confusion matrix for the Random Forest test split. Source: outputs/model_evaluation/confusion_matrix.png, generated by scratch_model_evaluation.py.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77639"/>
            <a:ext cx="4572000" cy="160020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4096511"/>
            <a:ext cx="424281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Why full data matters</a:t>
            </a:r>
          </a:p>
          <a:p>
            <a:pPr>
              <a:spcBef>
                <a:spcPts val="400"/>
              </a:spcBef>
              <a:defRPr sz="1500">
                <a:solidFill>
                  <a:srgbClr val="141F2B"/>
                </a:solidFill>
                <a:latin typeface="Aptos"/>
              </a:defRPr>
            </a:pPr>
            <a:r>
              <a:t>More sequences should provide more examples and a stronger generalization test.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Model workflow: Random Forest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874519" cy="109728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444752"/>
            <a:ext cx="1545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96B"/>
                </a:solidFill>
                <a:latin typeface="Aptos"/>
              </a:defRPr>
            </a:pPr>
            <a:r>
              <a:t>1 Load</a:t>
            </a:r>
          </a:p>
          <a:p>
            <a:pPr>
              <a:spcBef>
                <a:spcPts val="400"/>
              </a:spcBef>
              <a:defRPr sz="1300">
                <a:solidFill>
                  <a:srgbClr val="141F2B"/>
                </a:solidFill>
                <a:latin typeface="Aptos"/>
              </a:defRPr>
            </a:pPr>
            <a:r>
              <a:t>Sequence 102 H5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325880"/>
            <a:ext cx="1874519" cy="109728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90672" y="1444752"/>
            <a:ext cx="1545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96B"/>
                </a:solidFill>
                <a:latin typeface="Aptos"/>
              </a:defRPr>
            </a:pPr>
            <a:r>
              <a:t>2 Select</a:t>
            </a:r>
          </a:p>
          <a:p>
            <a:pPr>
              <a:spcBef>
                <a:spcPts val="400"/>
              </a:spcBef>
              <a:defRPr sz="1300">
                <a:solidFill>
                  <a:srgbClr val="141F2B"/>
                </a:solidFill>
                <a:latin typeface="Aptos"/>
              </a:defRPr>
            </a:pPr>
            <a:r>
              <a:t>7 radar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325880"/>
            <a:ext cx="1874519" cy="109728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76672" y="1444752"/>
            <a:ext cx="1545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96B"/>
                </a:solidFill>
                <a:latin typeface="Aptos"/>
              </a:defRPr>
            </a:pPr>
            <a:r>
              <a:t>3 Balance</a:t>
            </a:r>
          </a:p>
          <a:p>
            <a:pPr>
              <a:spcBef>
                <a:spcPts val="400"/>
              </a:spcBef>
              <a:defRPr sz="1300">
                <a:solidFill>
                  <a:srgbClr val="141F2B"/>
                </a:solidFill>
                <a:latin typeface="Aptos"/>
              </a:defRPr>
            </a:pPr>
            <a:r>
              <a:t>sample static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25880"/>
            <a:ext cx="1874519" cy="1097280"/>
          </a:xfrm>
          <a:prstGeom prst="roundRect">
            <a:avLst/>
          </a:prstGeom>
          <a:solidFill>
            <a:srgbClr val="E7F6F4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62671" y="1444752"/>
            <a:ext cx="1545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96B"/>
                </a:solidFill>
                <a:latin typeface="Aptos"/>
              </a:defRPr>
            </a:pPr>
            <a:r>
              <a:t>4 Train</a:t>
            </a:r>
          </a:p>
          <a:p>
            <a:pPr>
              <a:spcBef>
                <a:spcPts val="400"/>
              </a:spcBef>
              <a:defRPr sz="1300">
                <a:solidFill>
                  <a:srgbClr val="141F2B"/>
                </a:solidFill>
                <a:latin typeface="Aptos"/>
              </a:defRPr>
            </a:pPr>
            <a:r>
              <a:t>100 decision trees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325880"/>
            <a:ext cx="1874519" cy="109728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48672" y="1444752"/>
            <a:ext cx="1545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Aptos"/>
              </a:defRPr>
            </a:pPr>
            <a:r>
              <a:t>5 Evaluate</a:t>
            </a:r>
          </a:p>
          <a:p>
            <a:pPr>
              <a:spcBef>
                <a:spcPts val="400"/>
              </a:spcBef>
              <a:defRPr sz="1300">
                <a:solidFill>
                  <a:srgbClr val="141F2B"/>
                </a:solidFill>
                <a:latin typeface="Aptos"/>
              </a:defRPr>
            </a:pPr>
            <a:r>
              <a:t>metrics + plots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10241280" cy="4389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200" b="1">
                <a:solidFill>
                  <a:srgbClr val="0C2438"/>
                </a:solidFill>
                <a:latin typeface="Aptos"/>
              </a:defRPr>
            </a:pPr>
            <a:r>
              <a:t>Random Forest voting:</a:t>
            </a:r>
          </a:p>
        </p:txBody>
      </p:sp>
      <p:pic>
        <p:nvPicPr>
          <p:cNvPr id="19" name="Picture 18" descr="eq_rf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158" y="3456432"/>
            <a:ext cx="6310883" cy="7498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5840" y="4343400"/>
            <a:ext cx="987552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defRPr sz="1800" b="1">
                <a:solidFill>
                  <a:srgbClr val="00796B"/>
                </a:solidFill>
                <a:latin typeface="Aptos"/>
              </a:defRPr>
            </a:pPr>
            <a:r>
              <a:t>Final prediction = class with the most tree votes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AAC7892-8900-5C31-7808-FAB3C3CE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259"/>
          <a:stretch>
            <a:fillRect/>
          </a:stretch>
        </p:blipFill>
        <p:spPr>
          <a:xfrm>
            <a:off x="-111133" y="4168268"/>
            <a:ext cx="12414265" cy="16631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121402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88136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950" b="1">
                <a:solidFill>
                  <a:srgbClr val="00796B"/>
                </a:solidFill>
                <a:latin typeface="Aptos"/>
              </a:defRPr>
            </a:pPr>
            <a: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800" b="1">
                <a:solidFill>
                  <a:srgbClr val="0C2438"/>
                </a:solidFill>
                <a:latin typeface="Aptos"/>
              </a:defRPr>
            </a:pPr>
            <a:r>
              <a:t>Backup: file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850" b="0">
                <a:solidFill>
                  <a:srgbClr val="5A6976"/>
                </a:solidFill>
                <a:latin typeface="Aptos"/>
              </a:defRPr>
            </a:pPr>
            <a:r>
              <a:t>Radar Perception Analysis | Sequence 102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>
              <a:defRPr sz="850" b="0">
                <a:solidFill>
                  <a:srgbClr val="5A6976"/>
                </a:solidFill>
                <a:latin typeface="Aptos"/>
              </a:defRPr>
            </a:pPr>
            <a:r>
              <a:rPr sz="1000">
                <a:latin typeface="Apto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51560"/>
            <a:ext cx="5349240" cy="480060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170431"/>
            <a:ext cx="5020055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Open these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645919"/>
            <a:ext cx="491032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presentation_summary.html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outputs/parameter_relationships/parameter_relationship_interpretation.html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README.md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teacher_submission/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257800" cy="4800600"/>
          </a:xfrm>
          <a:prstGeom prst="roundRect">
            <a:avLst/>
          </a:prstGeom>
          <a:solidFill>
            <a:srgbClr val="F2F7F9"/>
          </a:solidFill>
          <a:ln>
            <a:solidFill>
              <a:srgbClr val="D2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170431"/>
            <a:ext cx="4928616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96B"/>
                </a:solidFill>
                <a:latin typeface="Aptos"/>
              </a:defRPr>
            </a:pPr>
            <a:r>
              <a:t>Run these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45919"/>
            <a:ext cx="4818888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python verify_project.py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python scratch_model_evaluation.py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python parameter_relationship_plots.py</a:t>
            </a:r>
          </a:p>
          <a:p>
            <a:pPr>
              <a:spcBef>
                <a:spcPts val="500"/>
              </a:spcBef>
              <a:defRPr sz="1450">
                <a:solidFill>
                  <a:srgbClr val="141F2B"/>
                </a:solidFill>
                <a:latin typeface="Aptos"/>
              </a:defRPr>
            </a:pPr>
            <a:r>
              <a:t>python "Sequence 102\\sequence102_radar_scene_report.py"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0F14FBB-19C2-139D-9520-9FEA37C8AC3D}"/>
              </a:ext>
            </a:extLst>
          </p:cNvPr>
          <p:cNvSpPr txBox="1"/>
          <p:nvPr/>
        </p:nvSpPr>
        <p:spPr>
          <a:xfrm>
            <a:off x="3047189" y="324433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6395645"/>
      </p:ext>
    </p:extLst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Final contribution: from one-sequence prototype to reproducible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The midterm deck focused on a Sequence 102 prototype; the final project now scans and processes 50 sequences automatically.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The pipeline builds point-level and track-level supervised datasets using label_id as ground truth.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It links radar, odometry, scenes.json, and camera frames by nearest timestamp, without claiming unimplemented camera projection.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It evaluates feature importance and trains multiple supervised models with imbalance-aware metrics.</a:t>
            </a:r>
          </a:p>
        </p:txBody>
      </p:sp>
      <p:pic>
        <p:nvPicPr>
          <p:cNvPr id="4" name="Picture 3" descr="1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394960" cy="1798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Dataset scale and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46634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Processed sequences: 50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Radar detections used: 28,749,044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Camera images available: 10,971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Odometry samples available: 438,809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Sequences do not have equal length or equal sample counts; this is expected and not a problem when splitting carefully.</a:t>
            </a:r>
          </a:p>
        </p:txBody>
      </p:sp>
      <p:pic>
        <p:nvPicPr>
          <p:cNvPr id="4" name="Picture 3" descr="01_dataset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97280"/>
            <a:ext cx="6126480" cy="204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Correct final data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46634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Point-level sample: one radar detection with timestamp, sensor_id, geometry, velocity, RCS, and label_id.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Track-level sample: aggregation by sequence_id and track_id with means, standard deviations, duration, and sensor count.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The model target is label_id, mapped to the official RadarScenes object classes.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Static environment is included in Experiment A and excluded in Experiment B.</a:t>
            </a:r>
          </a:p>
        </p:txBody>
      </p:sp>
      <p:pic>
        <p:nvPicPr>
          <p:cNvPr id="4" name="Picture 3" descr="02_sequence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97280"/>
            <a:ext cx="6126480" cy="204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Mathematics: RCS, range, and received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Radar Cross Section (RCS) describes how strongly a target reflects radar energy back to the sensor.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A simplified monostatic radar equation is: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P_r = (P_t G_t G_r lambda^2 sigma) / ((4 pi)^3 R^4 L)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This explains why range matters: received power decreases approximately with R^4 in the idealized case.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In this dataset, rcs is provided per detection; the project does not claim to compute RCS from raw power.</a:t>
            </a:r>
          </a:p>
        </p:txBody>
      </p:sp>
      <p:pic>
        <p:nvPicPr>
          <p:cNvPr id="4" name="Picture 3" descr="05_rcs_vs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5303520" cy="3712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Mathematics: radar coordinates and ego-motion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Polar-to-Cartesian relationship: x = r cos(theta), y = r sin(theta).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range_sc and azimuth_sc describe sensor-coordinate geometry.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x_cc and y_cc express detections in the car coordinate frame.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x_seq and y_seq express detections in a sequence/global frame linked to ego pose over time.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vr_compensated is important because it reduces ego-motion influence in radial velocity.</a:t>
            </a:r>
          </a:p>
        </p:txBody>
      </p:sp>
      <p:pic>
        <p:nvPicPr>
          <p:cNvPr id="4" name="Picture 3" descr="03_radar_point_cloud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60120"/>
            <a:ext cx="5440680" cy="3808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Timestamp alignment: radar, odometry,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For each selected camera timestamp t_c, the nearest radar and odometry timestamps are selected: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t_r* = argmin |t_r - t_c|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t_o* = argmin |t_o - t_c|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The output table records radar-camera and radar-odometry time differences.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The figure is a timestamp-aligned view, not a radar projection onto the image.</a:t>
            </a:r>
          </a:p>
        </p:txBody>
      </p:sp>
      <p:pic>
        <p:nvPicPr>
          <p:cNvPr id="4" name="Picture 3" descr="04_camera_radar_timestamp_mat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14400"/>
            <a:ext cx="5669280" cy="242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Feature selection: rigorous, not brute-force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46634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Exhaustive subset testing grows as 2^n - 1 feature subsets.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With 10 features, that is 1023 subsets before adding engineered features.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The final project uses mutual information, logistic coefficients, Random Forest importance, and permutation importance.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Agreement across methods is stronger evidence than one ranking alone.</a:t>
            </a:r>
          </a:p>
        </p:txBody>
      </p:sp>
      <p:pic>
        <p:nvPicPr>
          <p:cNvPr id="4" name="Picture 3" descr="08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97280"/>
            <a:ext cx="6126480" cy="340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Supervised learning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Input vector x_i = [range, azimuth, rcs, velocity, coordinates, sensor_id].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Target y_i = label_id, using the official class mapping.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Models trained: Logistic Regression, KNN, Linear SVM, RBF SVM, Random Forest, and MLPClassifier.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Preferred split: sequence-level train/test split to test on unseen sequences.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Class imbalance is handled with class weights where available, balanced sampling for expensive stages, and macro metrics.</a:t>
            </a:r>
          </a:p>
        </p:txBody>
      </p:sp>
      <p:pic>
        <p:nvPicPr>
          <p:cNvPr id="4" name="Picture 3" descr="11_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97280"/>
            <a:ext cx="5303520" cy="220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Evaluation mathematics: why macro F1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precision_k = TP_k / (TP_k + FP_k)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recall_k = TP_k / (TP_k + FN_k)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F1_k = 2 precision_k recall_k / (precision_k + recall_k)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macro F1 = average F1 across classes, treating rare and common classes equally.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Accuracy alone is not enough because static/background and frequent classes can dominate.</a:t>
            </a:r>
          </a:p>
        </p:txBody>
      </p:sp>
      <p:pic>
        <p:nvPicPr>
          <p:cNvPr id="4" name="Picture 3" descr="0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5257800" cy="2628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Final model result and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Best macro F1: experiment_B_dynamic_only / random_forest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Accuracy: 0.371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Macro F1: 0.317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Macro recall: 0.408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Dynamic-only classification performed better than all-class classification, showing the difficulty introduced by static environment imbalance.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</a:defRPr>
            </a:pPr>
            <a:r>
              <a:t>The result is a defensible radar-only baseline, not a final production perception model.</a:t>
            </a:r>
          </a:p>
        </p:txBody>
      </p:sp>
      <p:pic>
        <p:nvPicPr>
          <p:cNvPr id="4" name="Picture 3" descr="10_b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914400"/>
            <a:ext cx="5486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Corrections, limitations,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424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Correction: the final work is not Sequence 102 only; it processes 50 sequences generically.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Correction: label_id and sensor_id are categorical, so figures use discrete colors and legends, not continuous colorbars.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Correction: camera/radar examples are timestamp-aligned side-by-side views, not projected overlays.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Limitation: radar points are classified mainly from point features; temporal modeling could improve results.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Next steps: calibration-based camera projection, richer track features, hyperparameter search, and sequence cross-validation.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50 RadarScenes sequences | radar-only supervised label classification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Added model: XGBoost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XGBoost was installed and trained for both final experiments.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The code now label-encodes classes internally because XGBoost expects contiguous class indices, then maps predictions back to official label_id values.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experiment_A_all_classes: accuracy 0.144, macro F1 0.094, macro recall 0.205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experiment_B_dynamic_only: accuracy 0.229, macro F1 0.171, macro recall 0.247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Result: XGBoost did not outperform Random Forest on this radar-only baseline.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Interpretation: stronger boosting models still need good features, careful tuning, and enough minority-class structure; macro F1 remains the key metric.</a:t>
            </a:r>
          </a:p>
        </p:txBody>
      </p:sp>
      <p:pic>
        <p:nvPicPr>
          <p:cNvPr id="4" name="Picture 3" descr="0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51560"/>
            <a:ext cx="5349240" cy="2674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XGBoost added, trained, evaluated, and included in model comparison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3D feature-space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A 3D visual element was added to the final pipeline.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Axes: x_cc, y_cc, and vr_compensated.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This is useful for inspecting how object labels distribute across position and compensated radial velocity.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Important correction: this is not a physical 3D reconstruction or camera projection because the selected RadarScenes point fields do not provide object height.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The slide therefore calls it 3D feature-space visualization, which is accurate and defensible.</a:t>
            </a:r>
          </a:p>
        </p:txBody>
      </p:sp>
      <p:pic>
        <p:nvPicPr>
          <p:cNvPr id="4" name="Picture 3" descr="13_3d_feature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60120"/>
            <a:ext cx="5806440" cy="42228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pipeline: 3D feature view added without overclaiming physical 3D reconstruction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Data acquisition: what RadarScenes contains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RadarScenes was recorded with one measurement vehicle carrying four automotive radar sensors.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A front-facing documentary camera is included for human scene understanding.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Odometry is stored with radar data and describes ego pose and ego motion.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The full dataset has 158 sequences and over four hours of recordings; this project processes 50 sequences.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The supervised learning target is point-wise label_id, not camera-image annotation.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176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RadarScenes pipeline: data, synchronization, features, models, website, and limitations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Sequence duration: relevant, but not 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Processed 50 sequences are unequal in duration and sample count.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Observed duration range: about 13.2 s to 214.3 s.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Average processed-sequence duration: about 84.3 s.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Longer sequences can contribute more radar detections, camera images, and odometry samples.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</a:defRPr>
            </a:pPr>
            <a:r>
              <a:t>This is handled by reporting sequence statistics and using sequence-level train/test splitting where possible.</a:t>
            </a:r>
          </a:p>
        </p:txBody>
      </p:sp>
      <p:pic>
        <p:nvPicPr>
          <p:cNvPr id="4" name="Picture 3" descr="duration_per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14400"/>
            <a:ext cx="5577840" cy="2324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RadarScenes pipeline: data, synchronization, features, models, website, and limitations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Camera, radar, and odometry: the correct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1E1E"/>
                </a:solidFill>
              </a:defRPr>
            </a:pPr>
            <a:r>
              <a:t>Radar detections are the classification samples.</a:t>
            </a:r>
          </a:p>
          <a:p>
            <a:pPr>
              <a:spcAft>
                <a:spcPts val="700"/>
              </a:spcAft>
              <a:defRPr sz="1400">
                <a:solidFill>
                  <a:srgbClr val="1E1E1E"/>
                </a:solidFill>
              </a:defRPr>
            </a:pPr>
            <a:r>
              <a:t>Camera images are documentary context and are named by timestamp.</a:t>
            </a:r>
          </a:p>
          <a:p>
            <a:pPr>
              <a:spcAft>
                <a:spcPts val="700"/>
              </a:spcAft>
              <a:defRPr sz="1400">
                <a:solidFill>
                  <a:srgbClr val="1E1E1E"/>
                </a:solidFill>
              </a:defRPr>
            </a:pPr>
            <a:r>
              <a:t>Odometry provides ego-vehicle x/y position, yaw, velocity, and yaw rate.</a:t>
            </a:r>
          </a:p>
          <a:p>
            <a:pPr>
              <a:spcAft>
                <a:spcPts val="700"/>
              </a:spcAft>
              <a:defRPr sz="1400">
                <a:solidFill>
                  <a:srgbClr val="1E1E1E"/>
                </a:solidFill>
              </a:defRPr>
            </a:pPr>
            <a:r>
              <a:t>The pipeline links them using nearest timestamps and saves the time differences.</a:t>
            </a:r>
          </a:p>
          <a:p>
            <a:pPr>
              <a:spcAft>
                <a:spcPts val="700"/>
              </a:spcAft>
              <a:defRPr sz="1400">
                <a:solidFill>
                  <a:srgbClr val="1E1E1E"/>
                </a:solidFill>
              </a:defRPr>
            </a:pPr>
            <a:r>
              <a:t>Important correction: the side-by-side figures are timestamp-aligned views, not calibrated radar-to-camera projections.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14400"/>
            <a:ext cx="5715000" cy="24492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RadarScenes pipeline: data, synchronization, features, models, website, and limitations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</a:defRPr>
            </a:pPr>
            <a:r>
              <a:t>Final interactive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424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1E1E"/>
                </a:solidFill>
              </a:defRPr>
            </a:pPr>
            <a:r>
              <a:t>A portable static website was created in FINAL_SUBMISSION/project_website/index.html.</a:t>
            </a:r>
          </a:p>
          <a:p>
            <a:pPr>
              <a:spcAft>
                <a:spcPts val="700"/>
              </a:spcAft>
              <a:defRPr sz="1600">
                <a:solidFill>
                  <a:srgbClr val="1E1E1E"/>
                </a:solidFill>
              </a:defRPr>
            </a:pPr>
            <a:r>
              <a:t>It contains curated final visuals only; unused midterm-specific image dumps were removed.</a:t>
            </a:r>
          </a:p>
          <a:p>
            <a:pPr>
              <a:spcAft>
                <a:spcPts val="700"/>
              </a:spcAft>
              <a:defRPr sz="1600">
                <a:solidFill>
                  <a:srgbClr val="1E1E1E"/>
                </a:solidFill>
              </a:defRPr>
            </a:pPr>
            <a:r>
              <a:t>It includes a camera/radar/odometry relationship explainer with interactive hotspots.</a:t>
            </a:r>
          </a:p>
          <a:p>
            <a:pPr>
              <a:spcAft>
                <a:spcPts val="700"/>
              </a:spcAft>
              <a:defRPr sz="1600">
                <a:solidFill>
                  <a:srgbClr val="1E1E1E"/>
                </a:solidFill>
              </a:defRPr>
            </a:pPr>
            <a:r>
              <a:t>The 3D visualization now has selectable X, Y, and Z radar parameters, sensor filter, label filter, and point limit.</a:t>
            </a:r>
          </a:p>
          <a:p>
            <a:pPr>
              <a:spcAft>
                <a:spcPts val="700"/>
              </a:spcAft>
              <a:defRPr sz="1600">
                <a:solidFill>
                  <a:srgbClr val="1E1E1E"/>
                </a:solidFill>
              </a:defRPr>
            </a:pPr>
            <a:r>
              <a:t>This makes the project easier to defend because the links between dataset, math, features, models, and limitations are visible in one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Final RadarScenes pipeline: data, synchronization, features, models, website, and limitations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15F9A"/>
                </a:solidFill>
              </a:defRPr>
            </a:pPr>
            <a:r>
              <a:t>Two timestamp-aligned scenes: same method, different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C6975"/>
                </a:solidFill>
              </a:defRPr>
            </a:pPr>
            <a:r>
              <a:t>The images are documentary context; the radar plots are the supervised label-bearing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50992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70432"/>
            <a:ext cx="5413248" cy="2319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532180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57A62"/>
                </a:solidFill>
              </a:defRPr>
            </a:pPr>
            <a:r>
              <a:t>Scene A: sequence_1 | 408 radar detections | mostly static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051560"/>
            <a:ext cx="5650992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scene_b_camera_radar_timestamp_matc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70432"/>
            <a:ext cx="5413248" cy="23199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32180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357A62"/>
                </a:solidFill>
              </a:defRPr>
            </a:pPr>
            <a:r>
              <a:t>Scene B: sequence_2 | 869 radar detections | cars, truck, large vehicle, bicycles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569671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7202A"/>
                </a:solidFill>
              </a:defRPr>
            </a:pPr>
            <a:r>
              <a:t>The correct wording is timestamp-aligned camera and radar view, not radar projected onto camera.</a:t>
            </a:r>
          </a:p>
          <a:p>
            <a:pPr>
              <a:spcAft>
                <a:spcPts val="500"/>
              </a:spcAft>
              <a:defRPr sz="1200">
                <a:solidFill>
                  <a:srgbClr val="17202A"/>
                </a:solidFill>
              </a:defRPr>
            </a:pPr>
            <a:r>
              <a:t>Both examples come from the same link table: nearest camera timestamp, nearest odometry timestamp, and radar points near the selected frame.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15F9A"/>
                </a:solidFill>
              </a:defRPr>
            </a:pPr>
            <a:r>
              <a:t>What changes between the two scenes?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C6975"/>
                </a:solidFill>
              </a:defRPr>
            </a:pPr>
            <a:r>
              <a:t>This comparison prevents the audience from assuming that one frame represents the whole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737360" cy="603504"/>
          </a:xfrm>
          <a:prstGeom prst="rect">
            <a:avLst/>
          </a:prstGeom>
          <a:solidFill>
            <a:srgbClr val="EDF3F7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188719"/>
            <a:ext cx="15910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215F9A"/>
                </a:solidFill>
              </a:defRPr>
            </a:pPr>
            <a: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1078992"/>
            <a:ext cx="2788920" cy="603504"/>
          </a:xfrm>
          <a:prstGeom prst="rect">
            <a:avLst/>
          </a:prstGeom>
          <a:solidFill>
            <a:srgbClr val="EDF3F7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30552" y="1188719"/>
            <a:ext cx="2642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215F9A"/>
                </a:solidFill>
              </a:defRPr>
            </a:pPr>
            <a:r>
              <a:t>Scene A: sparse road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78992"/>
            <a:ext cx="2971800" cy="603504"/>
          </a:xfrm>
          <a:prstGeom prst="rect">
            <a:avLst/>
          </a:prstGeom>
          <a:solidFill>
            <a:srgbClr val="EDF3F7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188719"/>
            <a:ext cx="2825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215F9A"/>
                </a:solidFill>
              </a:defRPr>
            </a:pPr>
            <a:r>
              <a:t>Scene B: dense urban street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078992"/>
            <a:ext cx="3657600" cy="603504"/>
          </a:xfrm>
          <a:prstGeom prst="rect">
            <a:avLst/>
          </a:prstGeom>
          <a:solidFill>
            <a:srgbClr val="EDF3F7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2" y="1188719"/>
            <a:ext cx="3511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215F9A"/>
                </a:solidFill>
              </a:defRPr>
            </a:pPr>
            <a:r>
              <a:t>Meaning for 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82495"/>
            <a:ext cx="1737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773936"/>
            <a:ext cx="1591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1">
                <a:solidFill>
                  <a:srgbClr val="17202A"/>
                </a:solidFill>
              </a:defRPr>
            </a:pPr>
            <a:r>
              <a:t>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1682495"/>
            <a:ext cx="27889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2" y="1773936"/>
            <a:ext cx="2642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Open road / bridge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682495"/>
            <a:ext cx="2971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1773936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Urban street with buildings and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682495"/>
            <a:ext cx="3657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2" y="1773936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357A62"/>
                </a:solidFill>
              </a:defRPr>
            </a:pPr>
            <a:r>
              <a:t>Road geometry changes the static radar background.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86000"/>
            <a:ext cx="1737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377440"/>
            <a:ext cx="1591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1">
                <a:solidFill>
                  <a:srgbClr val="17202A"/>
                </a:solidFill>
              </a:defRPr>
            </a:pPr>
            <a:r>
              <a:t>Nearby radar detections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2286000"/>
            <a:ext cx="27889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0552" y="2377440"/>
            <a:ext cx="2642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408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286000"/>
            <a:ext cx="2971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9472" y="2377440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869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286000"/>
            <a:ext cx="3657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2377440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357A62"/>
                </a:solidFill>
              </a:defRPr>
            </a:pPr>
            <a:r>
              <a:t>The number of samples varies by scene and duration.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89504"/>
            <a:ext cx="1737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980944"/>
            <a:ext cx="1591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1">
                <a:solidFill>
                  <a:srgbClr val="17202A"/>
                </a:solidFill>
              </a:defRPr>
            </a:pPr>
            <a:r>
              <a:t>Labels near frame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2889504"/>
            <a:ext cx="27889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0552" y="2980944"/>
            <a:ext cx="2642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400 static, 6 car, 2 pedestrian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889504"/>
            <a:ext cx="2971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9472" y="2980944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785 static, 57 car, 20 truck, 5 large vehicle, 2 bicycle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2889504"/>
            <a:ext cx="3657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1272" y="2980944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357A62"/>
                </a:solidFill>
              </a:defRPr>
            </a:pPr>
            <a:r>
              <a:t>Class imbalance is present locally and globally.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493008"/>
            <a:ext cx="1737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3584448"/>
            <a:ext cx="1591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1">
                <a:solidFill>
                  <a:srgbClr val="17202A"/>
                </a:solidFill>
              </a:defRPr>
            </a:pPr>
            <a:r>
              <a:t>Camera role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3493008"/>
            <a:ext cx="27889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30552" y="3584448"/>
            <a:ext cx="2642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Visual explanation of the road scene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493008"/>
            <a:ext cx="2971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9472" y="3584448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Visual explanation of a more complex scene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3493008"/>
            <a:ext cx="3657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3584448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357A62"/>
                </a:solidFill>
              </a:defRPr>
            </a:pPr>
            <a:r>
              <a:t>Camera is context, not the feature input.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096512"/>
            <a:ext cx="1737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4187952"/>
            <a:ext cx="1591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1">
                <a:solidFill>
                  <a:srgbClr val="17202A"/>
                </a:solidFill>
              </a:defRPr>
            </a:pPr>
            <a:r>
              <a:t>Radar role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4096512"/>
            <a:ext cx="27889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30552" y="4187952"/>
            <a:ext cx="2642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Few dynamic objects among static returns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096512"/>
            <a:ext cx="2971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19472" y="4187952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More dynamic object classes among static returns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4096512"/>
            <a:ext cx="3657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91272" y="4187952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357A62"/>
                </a:solidFill>
              </a:defRPr>
            </a:pPr>
            <a:r>
              <a:t>The classifier learns from radar features and label_id.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700016"/>
            <a:ext cx="17373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4791455"/>
            <a:ext cx="1591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1">
                <a:solidFill>
                  <a:srgbClr val="17202A"/>
                </a:solidFill>
              </a:defRPr>
            </a:pPr>
            <a:r>
              <a:t>Odometry role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4700016"/>
            <a:ext cx="27889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30552" y="4791455"/>
            <a:ext cx="2642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Links car coordinates to sequence motion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4700016"/>
            <a:ext cx="2971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19472" y="4791455"/>
            <a:ext cx="2825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17202A"/>
                </a:solidFill>
              </a:defRPr>
            </a:pPr>
            <a:r>
              <a:t>Same link, more crowded environment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4700016"/>
            <a:ext cx="3657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91272" y="4791455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357A62"/>
                </a:solidFill>
              </a:defRPr>
            </a:pPr>
            <a:r>
              <a:t>Ego-motion context makes coordinates/velocity interpretable.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69671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7202A"/>
                </a:solidFill>
              </a:defRPr>
            </a:pPr>
            <a:r>
              <a:t>Takeaway: unequal sequence/frame content is not an error. It is exactly why the pipeline reports durations, label counts, sensor counts, and macro/per-class metrics.</a:t>
            </a:r>
          </a:p>
          <a:p>
            <a:pPr>
              <a:spcAft>
                <a:spcPts val="500"/>
              </a:spcAft>
              <a:defRPr sz="1100">
                <a:solidFill>
                  <a:srgbClr val="17202A"/>
                </a:solidFill>
              </a:defRPr>
            </a:pPr>
            <a:r>
              <a:t>The two scenes share the same reproducible pipeline, but they expose different failure modes: static dominance in Scene A and denser multi-class separation in Scene B.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Model detail: Logistic Regression and 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1500" b="0">
                <a:solidFill>
                  <a:srgbClr val="B9BBBE"/>
                </a:solidFill>
              </a:rPr>
              <a:t>Compact version of the deep dive: same data, same scaling, different prediction mechanisms.</a:t>
            </a:r>
          </a:p>
        </p:txBody>
      </p:sp>
      <p:pic>
        <p:nvPicPr>
          <p:cNvPr id="4" name="Picture 3" descr="sample_and_dataset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349240" cy="1874519"/>
          </a:xfrm>
          <a:prstGeom prst="rect">
            <a:avLst/>
          </a:prstGeom>
        </p:spPr>
      </p:pic>
      <p:pic>
        <p:nvPicPr>
          <p:cNvPr id="5" name="Picture 4" descr="preprocessin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440680" cy="18745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3520440"/>
            <a:ext cx="10789920" cy="196596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10424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E8E8E8"/>
                </a:solidFill>
              </a:defRPr>
            </a:pPr>
            <a:r>
              <a:t>Each radar point is one supervised sample: x^i contains range, azimuth, RCS, velocity, coordinates, and sensor_id; y^i is label_id.</a:t>
            </a:r>
          </a:p>
          <a:p>
            <a:pPr>
              <a:spcAft>
                <a:spcPts val="500"/>
              </a:spcAft>
              <a:defRPr sz="1700">
                <a:solidFill>
                  <a:srgbClr val="E8E8E8"/>
                </a:solidFill>
              </a:defRPr>
            </a:pPr>
            <a:r>
              <a:t>The same training/test split and the same StandardScaler transformation are used before Logistic Regression and kNN.</a:t>
            </a:r>
          </a:p>
          <a:p>
            <a:pPr>
              <a:spcAft>
                <a:spcPts val="500"/>
              </a:spcAft>
              <a:defRPr sz="1700">
                <a:solidFill>
                  <a:srgbClr val="E8E8E8"/>
                </a:solidFill>
              </a:defRPr>
            </a:pPr>
            <a:r>
              <a:t>The scaler learns x_bar_j and s_j only from the training samples, then applies the transformation to test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400" b="0">
                <a:solidFill>
                  <a:srgbClr val="B9BBBE"/>
                </a:solidFill>
              </a:rPr>
              <a:t>Why this slide matters: both models start from exactly the same normalized feature table.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Logistic Regression: learned parameters</a:t>
            </a:r>
          </a:p>
        </p:txBody>
      </p:sp>
      <p:pic>
        <p:nvPicPr>
          <p:cNvPr id="3" name="Picture 2" descr="logistic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486400" cy="1508760"/>
          </a:xfrm>
          <a:prstGeom prst="rect">
            <a:avLst/>
          </a:prstGeom>
        </p:spPr>
      </p:pic>
      <p:pic>
        <p:nvPicPr>
          <p:cNvPr id="4" name="Picture 3" descr="multiclass_logistic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60120"/>
            <a:ext cx="5486400" cy="18745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3246120"/>
            <a:ext cx="5303520" cy="224028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4983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8E8E8"/>
                </a:solidFill>
              </a:defRPr>
            </a:pPr>
            <a:r>
              <a:t>The model learns theta: weights on the normalized features.</a:t>
            </a:r>
          </a:p>
          <a:p>
            <a:pPr>
              <a:spcAft>
                <a:spcPts val="500"/>
              </a:spcAft>
              <a:defRPr sz="1600">
                <a:solidFill>
                  <a:srgbClr val="E8E8E8"/>
                </a:solidFill>
              </a:defRPr>
            </a:pPr>
            <a:r>
              <a:t>For multiclass RadarScenes, the implementation learns one theta_c per class.</a:t>
            </a:r>
          </a:p>
          <a:p>
            <a:pPr>
              <a:spcAft>
                <a:spcPts val="500"/>
              </a:spcAft>
              <a:defRPr sz="1600">
                <a:solidFill>
                  <a:srgbClr val="E8E8E8"/>
                </a:solidFill>
              </a:defRPr>
            </a:pPr>
            <a:r>
              <a:t>Prediction chooses the class with the largest estimated probability.</a:t>
            </a:r>
          </a:p>
        </p:txBody>
      </p:sp>
      <p:pic>
        <p:nvPicPr>
          <p:cNvPr id="7" name="Picture 6" descr="logistic_regression_dynamic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154680"/>
            <a:ext cx="498348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5715000"/>
            <a:ext cx="4983480" cy="3840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300" b="0">
                <a:solidFill>
                  <a:srgbClr val="B9BBBE"/>
                </a:solidFill>
              </a:rPr>
              <a:t>Coefficient magnitudes are interpretable because the features were scaled first.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k-nearest neighbors: stored examples and voting</a:t>
            </a:r>
          </a:p>
        </p:txBody>
      </p:sp>
      <p:pic>
        <p:nvPicPr>
          <p:cNvPr id="3" name="Picture 2" descr="knn_distance_vote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577840" cy="1965960"/>
          </a:xfrm>
          <a:prstGeom prst="rect">
            <a:avLst/>
          </a:prstGeom>
        </p:spPr>
      </p:pic>
      <p:pic>
        <p:nvPicPr>
          <p:cNvPr id="4" name="Picture 3" descr="classification_metric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841248"/>
            <a:ext cx="5257800" cy="2148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3246120"/>
            <a:ext cx="5303520" cy="205740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8E8E8"/>
                </a:solidFill>
              </a:defRPr>
            </a:pPr>
            <a:r>
              <a:t>kNN has no learned theta once k is fixed.</a:t>
            </a:r>
          </a:p>
          <a:p>
            <a:pPr>
              <a:spcAft>
                <a:spcPts val="500"/>
              </a:spcAft>
              <a:defRPr sz="1500">
                <a:solidFill>
                  <a:srgbClr val="E8E8E8"/>
                </a:solidFill>
              </a:defRPr>
            </a:pPr>
            <a:r>
              <a:t>Here k = 7: a test point x_new is assigned by majority vote among the 7 closest scaled training points.</a:t>
            </a:r>
          </a:p>
          <a:p>
            <a:pPr>
              <a:spcAft>
                <a:spcPts val="500"/>
              </a:spcAft>
              <a:defRPr sz="1500">
                <a:solidFill>
                  <a:srgbClr val="E8E8E8"/>
                </a:solidFill>
              </a:defRPr>
            </a:pPr>
            <a:r>
              <a:t>It is more local and flexible than Logistic Regression, but prediction is more expensive.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3246120"/>
          <a:ext cx="5166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272"/>
                <a:gridCol w="1033272"/>
                <a:gridCol w="1033272"/>
                <a:gridCol w="1033272"/>
                <a:gridCol w="1033272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A: all classes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Logistic Reg.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0.142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0.232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0.123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A: all classes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0.223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0.305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0.168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B: dynamic only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Logistic Reg.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0.192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0.285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0.212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B: dynamic only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0.344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0.343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0.270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715000"/>
            <a:ext cx="107442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400" b="0">
                <a:solidFill>
                  <a:srgbClr val="B9BBBE"/>
                </a:solidFill>
              </a:rPr>
              <a:t>Main takeaway: kNN beats Logistic Regression on macro F1 here, but both are baseline models; Random Forest remains the best final model.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Random Forest: ensemble of decision trees</a:t>
            </a:r>
          </a:p>
        </p:txBody>
      </p:sp>
      <p:pic>
        <p:nvPicPr>
          <p:cNvPr id="3" name="Picture 2" descr="random_forest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5532120" cy="1874519"/>
          </a:xfrm>
          <a:prstGeom prst="rect">
            <a:avLst/>
          </a:prstGeom>
        </p:spPr>
      </p:pic>
      <p:pic>
        <p:nvPicPr>
          <p:cNvPr id="4" name="Picture 3" descr="random_forest_split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868680"/>
            <a:ext cx="5212080" cy="1737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3154680"/>
            <a:ext cx="5303520" cy="192024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4983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The model trains many trees on randomized samples/features and combines their votes.</a:t>
            </a:r>
          </a:p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Tree splits choose thresholds that reduce impurity, shown with the Gini decrease.</a:t>
            </a:r>
          </a:p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In the final result, Random Forest is the best model by macro F1.</a:t>
            </a:r>
          </a:p>
        </p:txBody>
      </p:sp>
      <p:pic>
        <p:nvPicPr>
          <p:cNvPr id="7" name="Picture 6" descr="random_forest_dynamic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971800"/>
            <a:ext cx="4983480" cy="228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5394960"/>
          <a:ext cx="106070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24384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A all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0.230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0.357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0.172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B dyn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0.371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0.408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MLPClassifier: learned nonlinear features</a:t>
            </a:r>
          </a:p>
        </p:txBody>
      </p:sp>
      <p:pic>
        <p:nvPicPr>
          <p:cNvPr id="3" name="Picture 2" descr="mlp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5669280" cy="2057400"/>
          </a:xfrm>
          <a:prstGeom prst="rect">
            <a:avLst/>
          </a:prstGeom>
        </p:spPr>
      </p:pic>
      <p:pic>
        <p:nvPicPr>
          <p:cNvPr id="4" name="Picture 3" descr="mlp_loss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68680"/>
            <a:ext cx="4983480" cy="1600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3246120"/>
            <a:ext cx="5303520" cy="205740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The network maps x through hidden layers of sizes 64 and 32.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Weights W and biases b are optimized from the training set using a cross-entropy objective.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early_stopping=True prevents the model from training too long when validation performance stops improving.</a:t>
            </a:r>
          </a:p>
        </p:txBody>
      </p:sp>
      <p:pic>
        <p:nvPicPr>
          <p:cNvPr id="7" name="Picture 6" descr="experiment_B_dynamic_only_mlp_per_class_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971800"/>
            <a:ext cx="5166360" cy="23317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5486400"/>
          <a:ext cx="106070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24384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A all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0.188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0.256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0.146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B dyn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0.311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0.383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0.287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RBF SVM: nonlinear boundary through a kernel</a:t>
            </a:r>
          </a:p>
        </p:txBody>
      </p:sp>
      <p:pic>
        <p:nvPicPr>
          <p:cNvPr id="3" name="Picture 2" descr="rbf_svm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5715000" cy="2103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246120"/>
            <a:ext cx="5349240" cy="205740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The RBF kernel measures similarity in scaled feature space.</a:t>
            </a:r>
          </a:p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Only support vectors SV define the decision function.</a:t>
            </a:r>
          </a:p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It performed strongly on macro F1 but is more expensive than linear models.</a:t>
            </a:r>
          </a:p>
        </p:txBody>
      </p:sp>
      <p:pic>
        <p:nvPicPr>
          <p:cNvPr id="6" name="Picture 5" descr="experiment_B_dynamic_only_rbf_svm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51560"/>
            <a:ext cx="4892040" cy="4343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5486400"/>
          <a:ext cx="106070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24384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A all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RBF SVM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0.263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0.331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0.210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B dyn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RBF SVM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0.297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0.368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0.273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XGBoost: boosted decision trees</a:t>
            </a:r>
          </a:p>
        </p:txBody>
      </p:sp>
      <p:pic>
        <p:nvPicPr>
          <p:cNvPr id="3" name="Picture 2" descr="xgboost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5806440" cy="2057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246120"/>
            <a:ext cx="5349240" cy="205740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Trees are added sequentially; each new tree tries to improve the current predictions.</a:t>
            </a:r>
          </a:p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The objective combines classification loss with a tree-complexity penalty.</a:t>
            </a:r>
          </a:p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In this project, XGBoost was trained and evaluated, but Random Forest performed better.</a:t>
            </a:r>
          </a:p>
        </p:txBody>
      </p:sp>
      <p:pic>
        <p:nvPicPr>
          <p:cNvPr id="6" name="Picture 5" descr="experiment_B_dynamic_only_xgboost_per_clas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71800"/>
            <a:ext cx="5074920" cy="23317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5486400"/>
          <a:ext cx="106070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24384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8E8E8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A all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XGB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0.144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0.205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0.094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B dyn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XGB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0.229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0.247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1E1E"/>
                          </a:solidFill>
                        </a:defRPr>
                      </a:pPr>
                      <a:r>
                        <a:t>0.171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Model comparison: what to say out loud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5623560" cy="43891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46520" y="960120"/>
          <a:ext cx="49377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987552"/>
                <a:gridCol w="987552"/>
                <a:gridCol w="987552"/>
                <a:gridCol w="987552"/>
              </a:tblGrid>
              <a:tr h="309880"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E8E8E8"/>
                          </a:solidFill>
                        </a:defRPr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E8E8E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E8E8E8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E8E8E8"/>
                          </a:solidFill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E8E8E8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2F343C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A all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0.188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0.256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0.146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A all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RBF SVM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0.263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0.331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0.210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A all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0.230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0.357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0.172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A all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XGB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0.144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0.205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0.094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B dyn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0.311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0.383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0.287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B dyn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RBF SVM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0.297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0.368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0.273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B dyn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0.371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0.408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B dyn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XGB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0.229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0.247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1E1E"/>
                          </a:solidFill>
                        </a:defRPr>
                      </a:pPr>
                      <a:r>
                        <a:t>0.171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46520" y="4069080"/>
            <a:ext cx="4937760" cy="137160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4251960"/>
            <a:ext cx="4572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</a:defRPr>
            </a:pPr>
            <a:r>
              <a:t>Best final model: dynamic-only Random Forest.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</a:defRPr>
            </a:pPr>
            <a:r>
              <a:t>Best baseline group after RF: MLP/RBF SVM/kNN are competitive.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</a:defRPr>
            </a:pPr>
            <a:r>
              <a:t>XGBoost was included, but underperformed with this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1069848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400" b="0">
                <a:solidFill>
                  <a:srgbClr val="B9BBBE"/>
                </a:solidFill>
              </a:rPr>
              <a:t>Macro F1 remains the main comparison metric because the dataset is class-imbalanced.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Course framing: why these models belong here</a:t>
            </a:r>
          </a:p>
        </p:txBody>
      </p:sp>
      <p:pic>
        <p:nvPicPr>
          <p:cNvPr id="3" name="Picture 2" descr="three_ingredient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5532120" cy="2148840"/>
          </a:xfrm>
          <a:prstGeom prst="rect">
            <a:avLst/>
          </a:prstGeom>
        </p:spPr>
      </p:pic>
      <p:pic>
        <p:nvPicPr>
          <p:cNvPr id="4" name="Picture 3" descr="empirical_risk_occam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868680"/>
            <a:ext cx="5257800" cy="2148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3520440"/>
            <a:ext cx="10744200" cy="178308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Hypothesis class H: Logistic Regression, kNN, SVM, Random Forest, MLP, and XGBoost are different candidate families.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Loss/evaluation: training minimizes model-specific losses, while the final report compares accuracy, macro recall, and macro F1.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Learning algorithm A: fit the model on the training set, predict on held-out sequences, and select the model with the best validation/test behavior.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Occam's razor explains why simple baselines are kept: use the least complex model that explains the data well enough before trusting heavier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107442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400" b="0">
                <a:solidFill>
                  <a:srgbClr val="B9BBBE"/>
                </a:solidFill>
              </a:rPr>
              <a:t>This turns the project into model selection, not just trying algorithms randomly.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r>
              <a:rPr sz="2800" b="1">
                <a:solidFill>
                  <a:srgbClr val="E8E8E8"/>
                </a:solidFill>
              </a:rPr>
              <a:t>Lecture 2 connection: design matrix and linear baseline</a:t>
            </a:r>
          </a:p>
        </p:txBody>
      </p:sp>
      <p:pic>
        <p:nvPicPr>
          <p:cNvPr id="3" name="Picture 2" descr="linear_model_design_matrix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5669280" cy="21945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46520" y="1051560"/>
            <a:ext cx="4892040" cy="192024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29400" y="1234440"/>
            <a:ext cx="4526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The RadarScenes feature table is the design matrix A.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Each row is one radar point x^i; each column is one feature x_j.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</a:defRPr>
            </a:pPr>
            <a:r>
              <a:t>Linear Regression from lecture 2 becomes a classification baseline once the logistic link is used.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703320"/>
            <a:ext cx="10744200" cy="1600200"/>
          </a:xfrm>
          <a:prstGeom prst="rect">
            <a:avLst/>
          </a:prstGeom>
          <a:solidFill>
            <a:srgbClr val="1F2227"/>
          </a:solidFill>
          <a:ln>
            <a:solidFill>
              <a:srgbClr val="3E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Relevant implementation choice: the project starts with interpretable linear/logistic baselines, then compares more flexible models.</a:t>
            </a:r>
          </a:p>
          <a:p>
            <a:pPr>
              <a:spcAft>
                <a:spcPts val="400"/>
              </a:spcAft>
              <a:defRPr sz="1500">
                <a:solidFill>
                  <a:srgbClr val="E8E8E8"/>
                </a:solidFill>
              </a:defRPr>
            </a:pPr>
            <a:r>
              <a:t>Relevant limitation: if the true radar-label relationship is nonlinear, a linear model may underfit; this motivates Random Forest, RBF SVM, MLP, and XGBoost.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7442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400" b="0">
                <a:solidFill>
                  <a:srgbClr val="B9BBBE"/>
                </a:solidFill>
              </a:rPr>
              <a:t>This is also why the final explanation reports both equations and empirical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2726</Words>
  <Application>Microsoft Office PowerPoint</Application>
  <PresentationFormat>Grand écran</PresentationFormat>
  <Paragraphs>405</Paragraphs>
  <Slides>37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Gaïa Mezaïb (Student at CentraleSupelec)</cp:lastModifiedBy>
  <cp:revision>5</cp:revision>
  <dcterms:created xsi:type="dcterms:W3CDTF">2013-01-27T09:14:16Z</dcterms:created>
  <dcterms:modified xsi:type="dcterms:W3CDTF">2026-05-13T07:27:13Z</dcterms:modified>
  <cp:category/>
</cp:coreProperties>
</file>